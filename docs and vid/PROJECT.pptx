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8" r:id="rId4"/>
    <p:sldId id="269" r:id="rId5"/>
    <p:sldId id="273" r:id="rId6"/>
    <p:sldId id="275" r:id="rId7"/>
    <p:sldId id="258" r:id="rId8"/>
    <p:sldId id="259" r:id="rId9"/>
    <p:sldId id="261" r:id="rId10"/>
    <p:sldId id="263" r:id="rId11"/>
    <p:sldId id="267"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1" d="100"/>
          <a:sy n="81" d="100"/>
        </p:scale>
        <p:origin x="1200" y="84"/>
      </p:cViewPr>
      <p:guideLst/>
    </p:cSldViewPr>
  </p:slideViewPr>
  <p:notesTextViewPr>
    <p:cViewPr>
      <p:scale>
        <a:sx n="1" d="1"/>
        <a:sy n="1" d="1"/>
      </p:scale>
      <p:origin x="0" y="0"/>
    </p:cViewPr>
  </p:notesTextViewPr>
  <p:sorterViewPr>
    <p:cViewPr>
      <p:scale>
        <a:sx n="100" d="100"/>
        <a:sy n="100" d="100"/>
      </p:scale>
      <p:origin x="0" y="-2724"/>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2074670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5157566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D677B37A-14F8-494E-9063-6E053A95041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2926434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D677B37A-14F8-494E-9063-6E053A950412}"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3226388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D677B37A-14F8-494E-9063-6E053A950412}" type="datetimeFigureOut">
              <a:rPr lang="en-US" smtClean="0"/>
              <a:t>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957825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D677B37A-14F8-494E-9063-6E053A950412}" type="datetimeFigureOut">
              <a:rPr lang="en-US" smtClean="0"/>
              <a:t>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3322633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677B37A-14F8-494E-9063-6E053A950412}" type="datetimeFigureOut">
              <a:rPr lang="en-US" smtClean="0"/>
              <a:t>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10343188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77B37A-14F8-494E-9063-6E053A950412}"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21191328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D677B37A-14F8-494E-9063-6E053A950412}" type="datetimeFigureOut">
              <a:rPr lang="en-US" smtClean="0"/>
              <a:t>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785538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41056983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77B37A-14F8-494E-9063-6E053A950412}" type="datetimeFigureOut">
              <a:rPr lang="en-US" smtClean="0"/>
              <a:t>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C041048-533A-4B1F-BBAF-BC5ACCB03556}" type="slidenum">
              <a:rPr lang="en-US" smtClean="0"/>
              <a:t>‹#›</a:t>
            </a:fld>
            <a:endParaRPr lang="en-US"/>
          </a:p>
        </p:txBody>
      </p:sp>
    </p:spTree>
    <p:extLst>
      <p:ext uri="{BB962C8B-B14F-4D97-AF65-F5344CB8AC3E}">
        <p14:creationId xmlns:p14="http://schemas.microsoft.com/office/powerpoint/2010/main" val="3740854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David" panose="020E0502060401010101" pitchFamily="34" charset="-79"/>
              </a:defRPr>
            </a:lvl1pPr>
          </a:lstStyle>
          <a:p>
            <a:fld id="{D677B37A-14F8-494E-9063-6E053A950412}" type="datetimeFigureOut">
              <a:rPr lang="en-US" smtClean="0"/>
              <a:pPr/>
              <a:t>1/7/2026</a:t>
            </a:fld>
            <a:endParaRPr lang="en-US" dirty="0"/>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David" panose="020E0502060401010101" pitchFamily="34" charset="-79"/>
              </a:defRPr>
            </a:lvl1pPr>
          </a:lstStyle>
          <a:p>
            <a:endParaRPr lang="en-US" dirty="0"/>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David" panose="020E0502060401010101" pitchFamily="34" charset="-79"/>
              </a:defRPr>
            </a:lvl1pPr>
          </a:lstStyle>
          <a:p>
            <a:fld id="{1C041048-533A-4B1F-BBAF-BC5ACCB03556}" type="slidenum">
              <a:rPr lang="en-US" smtClean="0"/>
              <a:pPr/>
              <a:t>‹#›</a:t>
            </a:fld>
            <a:endParaRPr lang="en-US" dirty="0"/>
          </a:p>
        </p:txBody>
      </p:sp>
    </p:spTree>
    <p:extLst>
      <p:ext uri="{BB962C8B-B14F-4D97-AF65-F5344CB8AC3E}">
        <p14:creationId xmlns:p14="http://schemas.microsoft.com/office/powerpoint/2010/main" val="428457199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DollyShe/Cyber-Security-Project"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7B38F2-9CC5-851F-B72A-22209C56935F}"/>
              </a:ext>
            </a:extLst>
          </p:cNvPr>
          <p:cNvSpPr>
            <a:spLocks noGrp="1"/>
          </p:cNvSpPr>
          <p:nvPr>
            <p:ph type="ctrTitle"/>
          </p:nvPr>
        </p:nvSpPr>
        <p:spPr/>
        <p:txBody>
          <a:bodyPr/>
          <a:lstStyle/>
          <a:p>
            <a:r>
              <a:rPr lang="he-IL" dirty="0" err="1">
                <a:cs typeface="David" panose="020E0502060401010101" pitchFamily="34" charset="-79"/>
              </a:rPr>
              <a:t>ממ"ן</a:t>
            </a:r>
            <a:r>
              <a:rPr lang="he-IL" dirty="0">
                <a:cs typeface="David" panose="020E0502060401010101" pitchFamily="34" charset="-79"/>
              </a:rPr>
              <a:t> 16 - קורס מבוא לאבטחת המרחב המקוון 20940</a:t>
            </a:r>
            <a:endParaRPr lang="en-US" dirty="0"/>
          </a:p>
        </p:txBody>
      </p:sp>
      <p:sp>
        <p:nvSpPr>
          <p:cNvPr id="3" name="Subtitle 2">
            <a:extLst>
              <a:ext uri="{FF2B5EF4-FFF2-40B4-BE49-F238E27FC236}">
                <a16:creationId xmlns:a16="http://schemas.microsoft.com/office/drawing/2014/main" id="{35C6257C-089D-F954-F91D-44D072008540}"/>
              </a:ext>
            </a:extLst>
          </p:cNvPr>
          <p:cNvSpPr>
            <a:spLocks noGrp="1"/>
          </p:cNvSpPr>
          <p:nvPr>
            <p:ph type="subTitle" idx="1"/>
          </p:nvPr>
        </p:nvSpPr>
        <p:spPr>
          <a:xfrm>
            <a:off x="1524000" y="4079875"/>
            <a:ext cx="9144000" cy="1655762"/>
          </a:xfrm>
        </p:spPr>
        <p:txBody>
          <a:bodyPr/>
          <a:lstStyle/>
          <a:p>
            <a:r>
              <a:rPr lang="he-IL" dirty="0">
                <a:cs typeface="David" panose="020E0502060401010101" pitchFamily="34" charset="-79"/>
              </a:rPr>
              <a:t>דולי </a:t>
            </a:r>
            <a:r>
              <a:rPr lang="he-IL" dirty="0" err="1">
                <a:cs typeface="David" panose="020E0502060401010101" pitchFamily="34" charset="-79"/>
              </a:rPr>
              <a:t>שחאדה</a:t>
            </a:r>
            <a:r>
              <a:rPr lang="he-IL" dirty="0">
                <a:cs typeface="David" panose="020E0502060401010101" pitchFamily="34" charset="-79"/>
              </a:rPr>
              <a:t> ונעם טוני </a:t>
            </a:r>
            <a:r>
              <a:rPr lang="he-IL" dirty="0" err="1">
                <a:cs typeface="David" panose="020E0502060401010101" pitchFamily="34" charset="-79"/>
              </a:rPr>
              <a:t>טואף</a:t>
            </a:r>
            <a:endParaRPr lang="en-US" dirty="0"/>
          </a:p>
        </p:txBody>
      </p:sp>
    </p:spTree>
    <p:extLst>
      <p:ext uri="{BB962C8B-B14F-4D97-AF65-F5344CB8AC3E}">
        <p14:creationId xmlns:p14="http://schemas.microsoft.com/office/powerpoint/2010/main" val="14987910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DB2CAD-BE25-5232-AB51-8B66FC6B20CF}"/>
              </a:ext>
            </a:extLst>
          </p:cNvPr>
          <p:cNvSpPr>
            <a:spLocks noGrp="1"/>
          </p:cNvSpPr>
          <p:nvPr>
            <p:ph type="title"/>
          </p:nvPr>
        </p:nvSpPr>
        <p:spPr/>
        <p:txBody>
          <a:bodyPr/>
          <a:lstStyle/>
          <a:p>
            <a:pPr algn="ctr"/>
            <a:r>
              <a:rPr lang="he-IL" dirty="0">
                <a:cs typeface="David" panose="020E0502060401010101" pitchFamily="34" charset="-79"/>
              </a:rPr>
              <a:t>תוכן עניינים</a:t>
            </a:r>
            <a:endParaRPr lang="en-US" dirty="0"/>
          </a:p>
        </p:txBody>
      </p:sp>
      <p:sp>
        <p:nvSpPr>
          <p:cNvPr id="3" name="Content Placeholder 2">
            <a:extLst>
              <a:ext uri="{FF2B5EF4-FFF2-40B4-BE49-F238E27FC236}">
                <a16:creationId xmlns:a16="http://schemas.microsoft.com/office/drawing/2014/main" id="{806F6E08-48C5-17E9-8143-C0215FE80180}"/>
              </a:ext>
            </a:extLst>
          </p:cNvPr>
          <p:cNvSpPr>
            <a:spLocks noGrp="1"/>
          </p:cNvSpPr>
          <p:nvPr>
            <p:ph idx="1"/>
          </p:nvPr>
        </p:nvSpPr>
        <p:spPr>
          <a:xfrm>
            <a:off x="1424354" y="1790455"/>
            <a:ext cx="9343292" cy="4351338"/>
          </a:xfrm>
        </p:spPr>
        <p:txBody>
          <a:bodyPr>
            <a:normAutofit/>
          </a:bodyPr>
          <a:lstStyle/>
          <a:p>
            <a:pPr algn="r" rtl="1"/>
            <a:r>
              <a:rPr lang="he-IL" dirty="0">
                <a:cs typeface="David" panose="020E0502060401010101" pitchFamily="34" charset="-79"/>
              </a:rPr>
              <a:t>מטרות הפרויקט</a:t>
            </a:r>
          </a:p>
          <a:p>
            <a:pPr algn="r" rtl="1"/>
            <a:r>
              <a:rPr lang="he-IL" dirty="0">
                <a:cs typeface="David" panose="020E0502060401010101" pitchFamily="34" charset="-79"/>
              </a:rPr>
              <a:t>מתודולוגיה</a:t>
            </a:r>
          </a:p>
          <a:p>
            <a:pPr algn="r" rtl="1"/>
            <a:r>
              <a:rPr lang="he-IL" dirty="0">
                <a:cs typeface="David" panose="020E0502060401010101" pitchFamily="34" charset="-79"/>
              </a:rPr>
              <a:t>ממצאים, מסקנות וביקורת</a:t>
            </a:r>
          </a:p>
          <a:p>
            <a:pPr algn="r" rtl="1"/>
            <a:r>
              <a:rPr lang="he-IL" dirty="0">
                <a:cs typeface="David" panose="020E0502060401010101" pitchFamily="34" charset="-79"/>
              </a:rPr>
              <a:t>מגבלות הניסוי</a:t>
            </a:r>
          </a:p>
          <a:p>
            <a:pPr algn="r" rtl="1"/>
            <a:r>
              <a:rPr lang="he-IL" dirty="0">
                <a:cs typeface="David" panose="020E0502060401010101" pitchFamily="34" charset="-79"/>
              </a:rPr>
              <a:t>הצגת סביבת העבודה, </a:t>
            </a:r>
            <a:r>
              <a:rPr lang="he-IL" dirty="0" err="1">
                <a:cs typeface="David" panose="020E0502060401010101" pitchFamily="34" charset="-79"/>
              </a:rPr>
              <a:t>קונפיגורציות</a:t>
            </a:r>
            <a:r>
              <a:rPr lang="he-IL" dirty="0">
                <a:cs typeface="David" panose="020E0502060401010101" pitchFamily="34" charset="-79"/>
              </a:rPr>
              <a:t> ואיך לשחזר ניסויים.</a:t>
            </a:r>
          </a:p>
        </p:txBody>
      </p:sp>
      <p:sp>
        <p:nvSpPr>
          <p:cNvPr id="4" name="Content Placeholder 2">
            <a:extLst>
              <a:ext uri="{FF2B5EF4-FFF2-40B4-BE49-F238E27FC236}">
                <a16:creationId xmlns:a16="http://schemas.microsoft.com/office/drawing/2014/main" id="{1DF44533-3FF4-B427-BFD1-C0DB1B1B99BF}"/>
              </a:ext>
            </a:extLst>
          </p:cNvPr>
          <p:cNvSpPr txBox="1">
            <a:spLocks/>
          </p:cNvSpPr>
          <p:nvPr/>
        </p:nvSpPr>
        <p:spPr>
          <a:xfrm>
            <a:off x="2758611" y="5198724"/>
            <a:ext cx="8009035" cy="1042836"/>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he-IL" dirty="0">
                <a:latin typeface="David" panose="020E0502060401010101" pitchFamily="34" charset="-79"/>
                <a:cs typeface="David" panose="020E0502060401010101" pitchFamily="34" charset="-79"/>
              </a:rPr>
              <a:t>הלינק לפרויקט </a:t>
            </a:r>
            <a:r>
              <a:rPr lang="he-IL" dirty="0" err="1">
                <a:latin typeface="David" panose="020E0502060401010101" pitchFamily="34" charset="-79"/>
                <a:cs typeface="David" panose="020E0502060401010101" pitchFamily="34" charset="-79"/>
              </a:rPr>
              <a:t>בגיט</a:t>
            </a:r>
            <a:r>
              <a:rPr lang="he-IL" dirty="0">
                <a:latin typeface="David" panose="020E0502060401010101" pitchFamily="34" charset="-79"/>
                <a:cs typeface="David" panose="020E0502060401010101" pitchFamily="34" charset="-79"/>
              </a:rPr>
              <a:t>:</a:t>
            </a:r>
          </a:p>
          <a:p>
            <a:pPr marL="0" indent="0" algn="r" rtl="1">
              <a:buFont typeface="Arial" panose="020B0604020202020204" pitchFamily="34" charset="0"/>
              <a:buNone/>
            </a:pPr>
            <a:r>
              <a:rPr lang="en-US" dirty="0">
                <a:latin typeface="David" panose="020E0502060401010101" pitchFamily="34" charset="-79"/>
                <a:hlinkClick r:id="rId2"/>
              </a:rPr>
              <a:t>https://github.com/DollyShe/Cyber-Security-Project</a:t>
            </a:r>
            <a:endParaRPr lang="en-US" dirty="0">
              <a:latin typeface="David" panose="020E0502060401010101" pitchFamily="34" charset="-79"/>
            </a:endParaRPr>
          </a:p>
        </p:txBody>
      </p:sp>
    </p:spTree>
    <p:extLst>
      <p:ext uri="{BB962C8B-B14F-4D97-AF65-F5344CB8AC3E}">
        <p14:creationId xmlns:p14="http://schemas.microsoft.com/office/powerpoint/2010/main" val="18328489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כותרת 1">
            <a:extLst>
              <a:ext uri="{FF2B5EF4-FFF2-40B4-BE49-F238E27FC236}">
                <a16:creationId xmlns:a16="http://schemas.microsoft.com/office/drawing/2014/main" id="{85913B40-3EA7-8724-D87C-7B4803D24E6C}"/>
              </a:ext>
            </a:extLst>
          </p:cNvPr>
          <p:cNvSpPr>
            <a:spLocks noGrp="1"/>
          </p:cNvSpPr>
          <p:nvPr>
            <p:ph type="title"/>
          </p:nvPr>
        </p:nvSpPr>
        <p:spPr>
          <a:xfrm>
            <a:off x="838200" y="-138308"/>
            <a:ext cx="10515600" cy="1325563"/>
          </a:xfrm>
        </p:spPr>
        <p:txBody>
          <a:bodyPr>
            <a:normAutofit/>
          </a:bodyPr>
          <a:lstStyle/>
          <a:p>
            <a:pPr algn="ctr"/>
            <a:r>
              <a:rPr lang="he-IL" sz="2800" b="1" dirty="0">
                <a:cs typeface="David" panose="020E0502060401010101" pitchFamily="34" charset="-79"/>
              </a:rPr>
              <a:t>מטרות הפרויקט</a:t>
            </a:r>
            <a:endParaRPr lang="en-IL" sz="2800" b="1" dirty="0"/>
          </a:p>
        </p:txBody>
      </p:sp>
      <p:sp>
        <p:nvSpPr>
          <p:cNvPr id="3" name="מציין מיקום תוכן 2">
            <a:extLst>
              <a:ext uri="{FF2B5EF4-FFF2-40B4-BE49-F238E27FC236}">
                <a16:creationId xmlns:a16="http://schemas.microsoft.com/office/drawing/2014/main" id="{ACF63300-DC91-3130-761C-D70583EF57A6}"/>
              </a:ext>
            </a:extLst>
          </p:cNvPr>
          <p:cNvSpPr>
            <a:spLocks noGrp="1"/>
          </p:cNvSpPr>
          <p:nvPr>
            <p:ph idx="1"/>
          </p:nvPr>
        </p:nvSpPr>
        <p:spPr>
          <a:xfrm>
            <a:off x="838200" y="787941"/>
            <a:ext cx="10515600" cy="2581988"/>
          </a:xfrm>
        </p:spPr>
        <p:txBody>
          <a:bodyPr>
            <a:normAutofit/>
          </a:bodyPr>
          <a:lstStyle/>
          <a:p>
            <a:pPr marL="0" indent="0" algn="r" rtl="1">
              <a:lnSpc>
                <a:spcPct val="150000"/>
              </a:lnSpc>
              <a:buNone/>
            </a:pPr>
            <a:r>
              <a:rPr lang="he-IL" sz="1800" dirty="0">
                <a:cs typeface="David" panose="020E0502060401010101" pitchFamily="34" charset="-79"/>
              </a:rPr>
              <a:t>מטרת המחקר היא לבדוק כיצד שיטות שונות לאחסון סיסמאות ואימות משתמשים מתפקדות מול תקיפות </a:t>
            </a:r>
            <a:r>
              <a:rPr lang="en-US" sz="1800" dirty="0"/>
              <a:t>Brute-force</a:t>
            </a:r>
            <a:r>
              <a:rPr lang="he-IL" sz="1800" dirty="0">
                <a:cs typeface="David" panose="020E0502060401010101" pitchFamily="34" charset="-79"/>
              </a:rPr>
              <a:t> ו-</a:t>
            </a:r>
            <a:r>
              <a:rPr lang="en-US" sz="1800" dirty="0"/>
              <a:t>Password-Spray</a:t>
            </a:r>
            <a:r>
              <a:rPr lang="he-IL" sz="1800" dirty="0">
                <a:cs typeface="David" panose="020E0502060401010101" pitchFamily="34" charset="-79"/>
              </a:rPr>
              <a:t>, ולנתח את היתרונות הנוספים של חוזק סיסמאות ואמצעי הגנה משניים כגון הגבלת קצב, נעילת חשבון, </a:t>
            </a:r>
            <a:r>
              <a:rPr lang="en-US" sz="1800" dirty="0"/>
              <a:t>CAPTCHA</a:t>
            </a:r>
            <a:r>
              <a:rPr lang="he-IL" sz="1800" dirty="0">
                <a:cs typeface="David" panose="020E0502060401010101" pitchFamily="34" charset="-79"/>
              </a:rPr>
              <a:t> ו-</a:t>
            </a:r>
            <a:r>
              <a:rPr lang="en-US" sz="1800" dirty="0"/>
              <a:t> TOTP</a:t>
            </a:r>
            <a:r>
              <a:rPr lang="he-IL" sz="1800" dirty="0">
                <a:cs typeface="David" panose="020E0502060401010101" pitchFamily="34" charset="-79"/>
              </a:rPr>
              <a:t>(</a:t>
            </a:r>
            <a:r>
              <a:rPr lang="en-US" sz="1800" dirty="0"/>
              <a:t>Time based One Time Password</a:t>
            </a:r>
            <a:r>
              <a:rPr lang="he-IL" sz="1800" dirty="0">
                <a:cs typeface="David" panose="020E0502060401010101" pitchFamily="34" charset="-79"/>
              </a:rPr>
              <a:t>).</a:t>
            </a:r>
          </a:p>
          <a:p>
            <a:pPr marL="0" indent="0" algn="r" rtl="1">
              <a:lnSpc>
                <a:spcPct val="150000"/>
              </a:lnSpc>
              <a:buNone/>
            </a:pPr>
            <a:r>
              <a:rPr lang="he-IL" sz="1800" b="1" dirty="0">
                <a:cs typeface="David" panose="020E0502060401010101" pitchFamily="34" charset="-79"/>
              </a:rPr>
              <a:t>הצהרת עמידה בכללי האתיקה: </a:t>
            </a:r>
            <a:r>
              <a:rPr lang="he-IL" sz="1800" dirty="0">
                <a:cs typeface="David" panose="020E0502060401010101" pitchFamily="34" charset="-79"/>
              </a:rPr>
              <a:t>כל הניסויים התבצעו אך ורק על מערכות וירטואליות השייכות לסטודנטיות. לא התבצעו תקיפות על רשתות או מערכות חיצוניות ונעשה שימוש אך ורק בנתוני משתמשים מלאכותיים. </a:t>
            </a:r>
            <a:endParaRPr lang="en-IL" sz="1800" dirty="0"/>
          </a:p>
          <a:p>
            <a:pPr marL="0" indent="0" algn="r" rtl="1">
              <a:lnSpc>
                <a:spcPct val="150000"/>
              </a:lnSpc>
              <a:buNone/>
            </a:pPr>
            <a:endParaRPr lang="en-IL" sz="1800" dirty="0"/>
          </a:p>
        </p:txBody>
      </p:sp>
      <p:sp>
        <p:nvSpPr>
          <p:cNvPr id="4" name="כותרת 1">
            <a:extLst>
              <a:ext uri="{FF2B5EF4-FFF2-40B4-BE49-F238E27FC236}">
                <a16:creationId xmlns:a16="http://schemas.microsoft.com/office/drawing/2014/main" id="{3B01A42B-BEFE-8641-AF4A-67B266925939}"/>
              </a:ext>
            </a:extLst>
          </p:cNvPr>
          <p:cNvSpPr txBox="1">
            <a:spLocks/>
          </p:cNvSpPr>
          <p:nvPr/>
        </p:nvSpPr>
        <p:spPr>
          <a:xfrm>
            <a:off x="838200" y="3359642"/>
            <a:ext cx="10515600" cy="554764"/>
          </a:xfrm>
          <a:prstGeom prst="rect">
            <a:avLst/>
          </a:prstGeom>
        </p:spPr>
        <p:txBody>
          <a:bodyPr vert="horz" lIns="91440" tIns="45720" rIns="91440" bIns="45720" rtlCol="0" anchor="ctr">
            <a:noAutofit/>
          </a:bodyPr>
          <a:lst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a:lstStyle>
          <a:p>
            <a:pPr algn="ctr" rtl="1">
              <a:lnSpc>
                <a:spcPct val="150000"/>
              </a:lnSpc>
              <a:spcAft>
                <a:spcPts val="800"/>
              </a:spcAft>
            </a:pPr>
            <a:r>
              <a:rPr lang="he-IL" sz="2800" b="1" kern="100" dirty="0">
                <a:ea typeface="Calibri" panose="020F0502020204030204" pitchFamily="34" charset="0"/>
                <a:cs typeface="David" panose="020E0502060401010101" pitchFamily="34" charset="-79"/>
              </a:rPr>
              <a:t>מתודולוגית הניסוי</a:t>
            </a:r>
            <a:endParaRPr lang="en-IL" sz="2800" b="1" kern="100" dirty="0">
              <a:ea typeface="Calibri" panose="020F0502020204030204" pitchFamily="34" charset="0"/>
              <a:cs typeface="David" panose="020E0502060401010101" pitchFamily="34" charset="-79"/>
            </a:endParaRPr>
          </a:p>
        </p:txBody>
      </p:sp>
      <p:sp>
        <p:nvSpPr>
          <p:cNvPr id="5" name="מציין מיקום תוכן 2">
            <a:extLst>
              <a:ext uri="{FF2B5EF4-FFF2-40B4-BE49-F238E27FC236}">
                <a16:creationId xmlns:a16="http://schemas.microsoft.com/office/drawing/2014/main" id="{E1CCE240-EEA8-2607-AE7B-CC97026009BC}"/>
              </a:ext>
            </a:extLst>
          </p:cNvPr>
          <p:cNvSpPr txBox="1">
            <a:spLocks/>
          </p:cNvSpPr>
          <p:nvPr/>
        </p:nvSpPr>
        <p:spPr>
          <a:xfrm>
            <a:off x="838200" y="3971549"/>
            <a:ext cx="10515600" cy="2891586"/>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rtl="1">
              <a:lnSpc>
                <a:spcPct val="150000"/>
              </a:lnSpc>
              <a:spcBef>
                <a:spcPts val="0"/>
              </a:spcBef>
              <a:buFont typeface="Arial" panose="020B0604020202020204" pitchFamily="34" charset="0"/>
              <a:buNone/>
            </a:pPr>
            <a:r>
              <a:rPr lang="he-IL" sz="1800" dirty="0">
                <a:cs typeface="David" panose="020E0502060401010101" pitchFamily="34" charset="-79"/>
              </a:rPr>
              <a:t>מימשנו סימולציה של שרת אימות מקומי המדמה שרת אמיתי, המאפשר הרשמה והתחברות משתמשים, ובו 30 משתמשים עם סיסמאות חלשות, בינוניות וחזקות. השרת תומך במנגנוני אחסון סיסמאות ובאמצעי הגנה שונים, שנכללו בסימולציה כדי למדוד את השפעתם על קצב ההתקפות ושיעור ההצלחה. </a:t>
            </a:r>
          </a:p>
          <a:p>
            <a:pPr marL="0" indent="0" algn="just" rtl="1">
              <a:lnSpc>
                <a:spcPct val="150000"/>
              </a:lnSpc>
              <a:spcBef>
                <a:spcPts val="0"/>
              </a:spcBef>
              <a:buFont typeface="Arial" panose="020B0604020202020204" pitchFamily="34" charset="0"/>
              <a:buNone/>
            </a:pPr>
            <a:r>
              <a:rPr lang="he-IL" sz="1800" dirty="0">
                <a:cs typeface="David" panose="020E0502060401010101" pitchFamily="34" charset="-79"/>
              </a:rPr>
              <a:t>לצורך הניסוי בוצעו סימולציות של תקיפות</a:t>
            </a:r>
            <a:r>
              <a:rPr lang="en-US" sz="1800" dirty="0">
                <a:cs typeface="David" panose="020E0502060401010101" pitchFamily="34" charset="-79"/>
              </a:rPr>
              <a:t>Brute Force </a:t>
            </a:r>
            <a:r>
              <a:rPr lang="he-IL" sz="1800" dirty="0">
                <a:cs typeface="David" panose="020E0502060401010101" pitchFamily="34" charset="-79"/>
              </a:rPr>
              <a:t> ו־</a:t>
            </a:r>
            <a:r>
              <a:rPr lang="en-US" sz="1800" dirty="0">
                <a:cs typeface="David" panose="020E0502060401010101" pitchFamily="34" charset="-79"/>
              </a:rPr>
              <a:t>Password Spraying</a:t>
            </a:r>
            <a:r>
              <a:rPr lang="he-IL" sz="1800" dirty="0">
                <a:cs typeface="David" panose="020E0502060401010101" pitchFamily="34" charset="-79"/>
              </a:rPr>
              <a:t> תחת תרחישים שונים: ללא הגנות, עם כל מנגנון בנפרד ועם שילובי מנגנוני הגנה. </a:t>
            </a:r>
          </a:p>
          <a:p>
            <a:pPr marL="0" indent="0" algn="just" rtl="1">
              <a:lnSpc>
                <a:spcPct val="150000"/>
              </a:lnSpc>
              <a:spcBef>
                <a:spcPts val="0"/>
              </a:spcBef>
              <a:buFont typeface="Arial" panose="020B0604020202020204" pitchFamily="34" charset="0"/>
              <a:buNone/>
            </a:pPr>
            <a:r>
              <a:rPr lang="he-IL" sz="1800" dirty="0">
                <a:cs typeface="David" panose="020E0502060401010101" pitchFamily="34" charset="-79"/>
              </a:rPr>
              <a:t>לצורך תקיפות</a:t>
            </a:r>
            <a:r>
              <a:rPr lang="en-US" sz="1800" dirty="0">
                <a:cs typeface="David" panose="020E0502060401010101" pitchFamily="34" charset="-79"/>
              </a:rPr>
              <a:t>Brute Force </a:t>
            </a:r>
            <a:r>
              <a:rPr lang="he-IL" sz="1800" dirty="0">
                <a:cs typeface="David" panose="020E0502060401010101" pitchFamily="34" charset="-79"/>
              </a:rPr>
              <a:t> נבחרו משתמשים ספציפיים בעלי חוזק סיסמאות שונה, וחלקם עם </a:t>
            </a:r>
            <a:r>
              <a:rPr lang="en-US" sz="1800" dirty="0">
                <a:cs typeface="David" panose="020E0502060401010101" pitchFamily="34" charset="-79"/>
              </a:rPr>
              <a:t>TOTP</a:t>
            </a:r>
            <a:r>
              <a:rPr lang="he-IL" sz="1800" dirty="0">
                <a:cs typeface="David" panose="020E0502060401010101" pitchFamily="34" charset="-79"/>
              </a:rPr>
              <a:t>.</a:t>
            </a:r>
            <a:endParaRPr lang="en-IL" sz="1800" kern="100" dirty="0">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56225483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מציין מיקום תוכן 2">
            <a:extLst>
              <a:ext uri="{FF2B5EF4-FFF2-40B4-BE49-F238E27FC236}">
                <a16:creationId xmlns:a16="http://schemas.microsoft.com/office/drawing/2014/main" id="{E2F96255-6A4B-D2E1-2249-1E6DA3DD3EBD}"/>
              </a:ext>
            </a:extLst>
          </p:cNvPr>
          <p:cNvSpPr>
            <a:spLocks noGrp="1"/>
          </p:cNvSpPr>
          <p:nvPr>
            <p:ph idx="1"/>
          </p:nvPr>
        </p:nvSpPr>
        <p:spPr>
          <a:xfrm>
            <a:off x="6940151" y="892853"/>
            <a:ext cx="4813483" cy="2771091"/>
          </a:xfrm>
          <a:ln>
            <a:solidFill>
              <a:schemeClr val="tx1"/>
            </a:solidFill>
          </a:ln>
        </p:spPr>
        <p:txBody>
          <a:bodyPr>
            <a:normAutofit fontScale="92500" lnSpcReduction="10000"/>
          </a:bodyPr>
          <a:lstStyle/>
          <a:p>
            <a:pPr marL="0" lvl="0" indent="0" algn="r" rtl="1">
              <a:lnSpc>
                <a:spcPct val="150000"/>
              </a:lnSpc>
              <a:buNone/>
            </a:pPr>
            <a:r>
              <a:rPr lang="he-IL" sz="1900" b="1" u="sng" dirty="0">
                <a:cs typeface="David" panose="020E0502060401010101" pitchFamily="34" charset="-79"/>
              </a:rPr>
              <a:t>שיטות תקיפה</a:t>
            </a:r>
            <a:r>
              <a:rPr lang="en-US" sz="1900" b="1" u="sng" dirty="0">
                <a:cs typeface="David" panose="020E0502060401010101" pitchFamily="34" charset="-79"/>
              </a:rPr>
              <a:t> </a:t>
            </a:r>
            <a:r>
              <a:rPr lang="he-IL" sz="1900" b="1" u="sng" dirty="0">
                <a:cs typeface="David" panose="020E0502060401010101" pitchFamily="34" charset="-79"/>
              </a:rPr>
              <a:t>שנבחנו  בפרויקט</a:t>
            </a:r>
            <a:endParaRPr lang="he-IL" sz="1900" b="1" u="sng" dirty="0"/>
          </a:p>
          <a:p>
            <a:pPr marL="0" lvl="0" indent="0" algn="r" rtl="1">
              <a:lnSpc>
                <a:spcPct val="150000"/>
              </a:lnSpc>
              <a:buNone/>
            </a:pPr>
            <a:r>
              <a:rPr lang="en-US" sz="1900" b="1" dirty="0"/>
              <a:t>Brute-Force Attack</a:t>
            </a:r>
            <a:r>
              <a:rPr lang="he-IL" sz="1900" b="1" dirty="0"/>
              <a:t> - </a:t>
            </a:r>
            <a:r>
              <a:rPr lang="he-IL" sz="1900" dirty="0">
                <a:cs typeface="David" panose="020E0502060401010101" pitchFamily="34" charset="-79"/>
              </a:rPr>
              <a:t>ניסיון שיטתי של סיסמאות רבות (או כל הסיסמאות האפשריות) על חשבון יחיד.</a:t>
            </a:r>
          </a:p>
          <a:p>
            <a:pPr marL="0" lvl="0" indent="0" algn="r" rtl="1">
              <a:lnSpc>
                <a:spcPct val="150000"/>
              </a:lnSpc>
              <a:buNone/>
            </a:pPr>
            <a:r>
              <a:rPr lang="he-IL" sz="1900" dirty="0">
                <a:cs typeface="David" panose="020E0502060401010101" pitchFamily="34" charset="-79"/>
              </a:rPr>
              <a:t> </a:t>
            </a:r>
            <a:r>
              <a:rPr lang="en-US" sz="1900" b="1" dirty="0"/>
              <a:t>Password-Spraying Attack</a:t>
            </a:r>
            <a:r>
              <a:rPr lang="he-IL" sz="1900" b="1" dirty="0"/>
              <a:t>  - </a:t>
            </a:r>
            <a:r>
              <a:rPr lang="he-IL" sz="1900" dirty="0">
                <a:cs typeface="David" panose="020E0502060401010101" pitchFamily="34" charset="-79"/>
              </a:rPr>
              <a:t>סוג של תקיפת </a:t>
            </a:r>
            <a:r>
              <a:rPr lang="en-US" sz="1900" dirty="0"/>
              <a:t>Brute-Force Attack</a:t>
            </a:r>
            <a:r>
              <a:rPr lang="he-IL" sz="1900" dirty="0">
                <a:cs typeface="David" panose="020E0502060401010101" pitchFamily="34" charset="-79"/>
              </a:rPr>
              <a:t>. בשיטה זו התוקף מנסה מספר קטן של סיסמאות נפוצות על כמות גדולה של חשבונות. </a:t>
            </a:r>
            <a:endParaRPr lang="en-IL" sz="1900" dirty="0"/>
          </a:p>
        </p:txBody>
      </p:sp>
      <p:sp>
        <p:nvSpPr>
          <p:cNvPr id="6" name="מציין מיקום תוכן 2">
            <a:extLst>
              <a:ext uri="{FF2B5EF4-FFF2-40B4-BE49-F238E27FC236}">
                <a16:creationId xmlns:a16="http://schemas.microsoft.com/office/drawing/2014/main" id="{D88F0ABA-78D0-F7D4-70E3-DE85D3760A0D}"/>
              </a:ext>
            </a:extLst>
          </p:cNvPr>
          <p:cNvSpPr txBox="1">
            <a:spLocks/>
          </p:cNvSpPr>
          <p:nvPr/>
        </p:nvSpPr>
        <p:spPr>
          <a:xfrm>
            <a:off x="6940150" y="4130995"/>
            <a:ext cx="4813483" cy="1907927"/>
          </a:xfrm>
          <a:prstGeom prst="rect">
            <a:avLst/>
          </a:prstGeom>
          <a:ln>
            <a:solidFill>
              <a:schemeClr val="tx1"/>
            </a:solidFill>
          </a:ln>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r" rtl="1">
              <a:buFont typeface="Arial" panose="020B0604020202020204" pitchFamily="34" charset="0"/>
              <a:buNone/>
            </a:pPr>
            <a:r>
              <a:rPr lang="he-IL" sz="1900" b="1" u="sng" dirty="0">
                <a:cs typeface="David" panose="020E0502060401010101" pitchFamily="34" charset="-79"/>
              </a:rPr>
              <a:t>שיטות גיבוב שנבחנו בפרויקט</a:t>
            </a:r>
          </a:p>
          <a:p>
            <a:pPr algn="r" rtl="1"/>
            <a:r>
              <a:rPr lang="en-US" sz="1900" b="1" dirty="0"/>
              <a:t>SHA-256 + Salt</a:t>
            </a:r>
            <a:endParaRPr lang="en-IL" sz="1900" dirty="0"/>
          </a:p>
          <a:p>
            <a:pPr algn="r" rtl="1"/>
            <a:r>
              <a:rPr lang="en-US" sz="1900" b="1" dirty="0" err="1"/>
              <a:t>Bcrypt</a:t>
            </a:r>
            <a:endParaRPr lang="en-IL" sz="1900" dirty="0"/>
          </a:p>
          <a:p>
            <a:pPr algn="r" rtl="1"/>
            <a:r>
              <a:rPr lang="en-US" sz="1900" b="1" dirty="0"/>
              <a:t>Argon2id</a:t>
            </a:r>
            <a:endParaRPr lang="en-IL" sz="1900" dirty="0"/>
          </a:p>
        </p:txBody>
      </p:sp>
      <p:sp>
        <p:nvSpPr>
          <p:cNvPr id="7" name="מציין מיקום תוכן 2">
            <a:extLst>
              <a:ext uri="{FF2B5EF4-FFF2-40B4-BE49-F238E27FC236}">
                <a16:creationId xmlns:a16="http://schemas.microsoft.com/office/drawing/2014/main" id="{EAEAA4C3-B09E-E950-C6F8-BE02978073E8}"/>
              </a:ext>
            </a:extLst>
          </p:cNvPr>
          <p:cNvSpPr txBox="1">
            <a:spLocks/>
          </p:cNvSpPr>
          <p:nvPr/>
        </p:nvSpPr>
        <p:spPr>
          <a:xfrm>
            <a:off x="565079" y="892853"/>
            <a:ext cx="5763801" cy="5146070"/>
          </a:xfrm>
          <a:prstGeom prst="rect">
            <a:avLst/>
          </a:prstGeom>
          <a:ln>
            <a:solidFill>
              <a:schemeClr val="tx1"/>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just" rtl="1">
              <a:lnSpc>
                <a:spcPct val="150000"/>
              </a:lnSpc>
              <a:spcBef>
                <a:spcPts val="0"/>
              </a:spcBef>
              <a:buNone/>
            </a:pPr>
            <a:r>
              <a:rPr lang="he-IL" sz="1800" b="1" u="sng" kern="100" dirty="0">
                <a:ea typeface="Calibri" panose="020F0502020204030204" pitchFamily="34" charset="0"/>
                <a:cs typeface="David" panose="020E0502060401010101" pitchFamily="34" charset="-79"/>
              </a:rPr>
              <a:t>מנגנוני הגנה</a:t>
            </a:r>
            <a:r>
              <a:rPr lang="en-US" sz="1800" b="1" u="sng" kern="100" dirty="0">
                <a:ea typeface="Calibri" panose="020F0502020204030204" pitchFamily="34" charset="0"/>
                <a:cs typeface="David" panose="020E0502060401010101" pitchFamily="34" charset="-79"/>
              </a:rPr>
              <a:t> </a:t>
            </a:r>
            <a:r>
              <a:rPr lang="he-IL" sz="1800" b="1" u="sng" kern="100" dirty="0">
                <a:ea typeface="Calibri" panose="020F0502020204030204" pitchFamily="34" charset="0"/>
                <a:cs typeface="David" panose="020E0502060401010101" pitchFamily="34" charset="-79"/>
              </a:rPr>
              <a:t>שנבחנו בפרויקט</a:t>
            </a:r>
          </a:p>
          <a:p>
            <a:pPr marL="0" indent="0" algn="just" rtl="1">
              <a:lnSpc>
                <a:spcPct val="150000"/>
              </a:lnSpc>
              <a:spcBef>
                <a:spcPts val="0"/>
              </a:spcBef>
              <a:buNone/>
            </a:pPr>
            <a:r>
              <a:rPr lang="en-US" sz="1800" b="1" kern="100" dirty="0">
                <a:ea typeface="Calibri" panose="020F0502020204030204" pitchFamily="34" charset="0"/>
                <a:cs typeface="David" panose="020E0502060401010101" pitchFamily="34" charset="-79"/>
              </a:rPr>
              <a:t>Rate-Limiting</a:t>
            </a:r>
            <a:r>
              <a:rPr lang="he-IL" sz="1800" b="1" kern="100" dirty="0">
                <a:ea typeface="Calibri" panose="020F0502020204030204" pitchFamily="34" charset="0"/>
                <a:cs typeface="David" panose="020E0502060401010101" pitchFamily="34" charset="-79"/>
              </a:rPr>
              <a:t>: </a:t>
            </a:r>
            <a:r>
              <a:rPr lang="he-IL" sz="1800" kern="100" dirty="0">
                <a:ea typeface="Calibri" panose="020F0502020204030204" pitchFamily="34" charset="0"/>
                <a:cs typeface="David" panose="020E0502060401010101" pitchFamily="34" charset="-79"/>
              </a:rPr>
              <a:t>מנגנון להגבלת מספר ניסיונות ההתחברות של משתמש בטווח זמן מסוים. </a:t>
            </a:r>
            <a:endParaRPr lang="en-IL" sz="1800" kern="100" dirty="0">
              <a:ea typeface="Calibri" panose="020F0502020204030204" pitchFamily="34" charset="0"/>
              <a:cs typeface="David" panose="020E0502060401010101" pitchFamily="34" charset="-79"/>
            </a:endParaRPr>
          </a:p>
          <a:p>
            <a:pPr marL="0" indent="0" algn="just" rtl="1">
              <a:lnSpc>
                <a:spcPct val="150000"/>
              </a:lnSpc>
              <a:spcBef>
                <a:spcPts val="0"/>
              </a:spcBef>
              <a:buNone/>
            </a:pPr>
            <a:r>
              <a:rPr lang="he-IL" sz="1800" b="1" kern="100" dirty="0">
                <a:ea typeface="Calibri" panose="020F0502020204030204" pitchFamily="34" charset="0"/>
                <a:cs typeface="David" panose="020E0502060401010101" pitchFamily="34" charset="-79"/>
              </a:rPr>
              <a:t>נעילת חשבון: </a:t>
            </a:r>
            <a:r>
              <a:rPr lang="he-IL" sz="1800" kern="100" dirty="0">
                <a:ea typeface="Calibri" panose="020F0502020204030204" pitchFamily="34" charset="0"/>
                <a:cs typeface="David" panose="020E0502060401010101" pitchFamily="34" charset="-79"/>
              </a:rPr>
              <a:t>מנגנון לחסימת משתמש לאחר מספר מסוים ניסיונות כושלים.</a:t>
            </a:r>
            <a:endParaRPr lang="en-IL" sz="1800" kern="100" dirty="0">
              <a:ea typeface="Calibri" panose="020F0502020204030204" pitchFamily="34" charset="0"/>
              <a:cs typeface="David" panose="020E0502060401010101" pitchFamily="34" charset="-79"/>
            </a:endParaRPr>
          </a:p>
          <a:p>
            <a:pPr marL="0" indent="0" algn="just" rtl="1">
              <a:lnSpc>
                <a:spcPct val="150000"/>
              </a:lnSpc>
              <a:spcBef>
                <a:spcPts val="0"/>
              </a:spcBef>
              <a:buNone/>
            </a:pPr>
            <a:r>
              <a:rPr lang="en-US" sz="1800" b="1" kern="100" dirty="0">
                <a:ea typeface="Calibri" panose="020F0502020204030204" pitchFamily="34" charset="0"/>
                <a:cs typeface="David" panose="020E0502060401010101" pitchFamily="34" charset="-79"/>
              </a:rPr>
              <a:t>CAPTCHA</a:t>
            </a:r>
            <a:r>
              <a:rPr lang="he-IL" sz="1800" b="1" kern="100" dirty="0">
                <a:ea typeface="Calibri" panose="020F0502020204030204" pitchFamily="34" charset="0"/>
                <a:cs typeface="David" panose="020E0502060401010101" pitchFamily="34" charset="-79"/>
              </a:rPr>
              <a:t>: </a:t>
            </a:r>
            <a:r>
              <a:rPr lang="he-IL" sz="1800" kern="100" dirty="0">
                <a:ea typeface="Calibri" panose="020F0502020204030204" pitchFamily="34" charset="0"/>
                <a:cs typeface="David" panose="020E0502060401010101" pitchFamily="34" charset="-79"/>
              </a:rPr>
              <a:t>מבחן שנועד לוודא שהמשתמש הוא אדם ולא </a:t>
            </a:r>
            <a:r>
              <a:rPr lang="he-IL" sz="1800" kern="100" dirty="0" err="1">
                <a:ea typeface="Calibri" panose="020F0502020204030204" pitchFamily="34" charset="0"/>
                <a:cs typeface="David" panose="020E0502060401010101" pitchFamily="34" charset="-79"/>
              </a:rPr>
              <a:t>בוט</a:t>
            </a:r>
            <a:r>
              <a:rPr lang="he-IL" sz="1800" kern="100" dirty="0">
                <a:ea typeface="Calibri" panose="020F0502020204030204" pitchFamily="34" charset="0"/>
                <a:cs typeface="David" panose="020E0502060401010101" pitchFamily="34" charset="-79"/>
              </a:rPr>
              <a:t>.</a:t>
            </a:r>
            <a:endParaRPr lang="en-IL" sz="1800" kern="100" dirty="0">
              <a:ea typeface="Calibri" panose="020F0502020204030204" pitchFamily="34" charset="0"/>
              <a:cs typeface="David" panose="020E0502060401010101" pitchFamily="34" charset="-79"/>
            </a:endParaRPr>
          </a:p>
          <a:p>
            <a:pPr marL="0" indent="0" algn="just" rtl="1">
              <a:lnSpc>
                <a:spcPct val="150000"/>
              </a:lnSpc>
              <a:spcBef>
                <a:spcPts val="0"/>
              </a:spcBef>
              <a:buNone/>
            </a:pPr>
            <a:r>
              <a:rPr lang="en-US" sz="1800" b="1" kern="100" dirty="0">
                <a:ea typeface="Calibri" panose="020F0502020204030204" pitchFamily="34" charset="0"/>
                <a:cs typeface="David" panose="020E0502060401010101" pitchFamily="34" charset="-79"/>
              </a:rPr>
              <a:t>Pepper</a:t>
            </a:r>
            <a:r>
              <a:rPr lang="he-IL" sz="1800" kern="100" dirty="0">
                <a:ea typeface="Calibri" panose="020F0502020204030204" pitchFamily="34" charset="0"/>
                <a:cs typeface="David" panose="020E0502060401010101" pitchFamily="34" charset="-79"/>
              </a:rPr>
              <a:t>: ערך סודי גלובלי שנשמר מחוץ למסד הנתונים ומוסיפים לסיסמה לפני הגיבוב.</a:t>
            </a:r>
          </a:p>
          <a:p>
            <a:pPr marL="0" indent="0" algn="just" rtl="1">
              <a:lnSpc>
                <a:spcPct val="150000"/>
              </a:lnSpc>
              <a:spcBef>
                <a:spcPts val="0"/>
              </a:spcBef>
              <a:buNone/>
            </a:pPr>
            <a:r>
              <a:rPr lang="he-IL" sz="1800" kern="100" dirty="0">
                <a:ea typeface="Calibri" panose="020F0502020204030204" pitchFamily="34" charset="0"/>
                <a:cs typeface="David" panose="020E0502060401010101" pitchFamily="34" charset="-79"/>
              </a:rPr>
              <a:t> </a:t>
            </a:r>
            <a:r>
              <a:rPr lang="en-US" sz="1800" b="1" kern="100" dirty="0">
                <a:ea typeface="Calibri" panose="020F0502020204030204" pitchFamily="34" charset="0"/>
                <a:cs typeface="David" panose="020E0502060401010101" pitchFamily="34" charset="-79"/>
              </a:rPr>
              <a:t>TOTP (Time-based One-Time Password)</a:t>
            </a:r>
            <a:r>
              <a:rPr lang="he-IL" sz="1800" b="1" kern="100" dirty="0">
                <a:ea typeface="Calibri" panose="020F0502020204030204" pitchFamily="34" charset="0"/>
                <a:cs typeface="David" panose="020E0502060401010101" pitchFamily="34" charset="-79"/>
              </a:rPr>
              <a:t>:</a:t>
            </a:r>
            <a:r>
              <a:rPr lang="he-IL" sz="1800" kern="100" dirty="0">
                <a:ea typeface="Calibri" panose="020F0502020204030204" pitchFamily="34" charset="0"/>
                <a:cs typeface="David" panose="020E0502060401010101" pitchFamily="34" charset="-79"/>
              </a:rPr>
              <a:t> מנגנון אימות דו-שלבי שבו לאחר שהמשתמש הזין סיסמא נכונה, יש צורך להזין גם קוד חד פעמי המתעדכן כל מספר שניות.</a:t>
            </a:r>
            <a:endParaRPr lang="en-IL" sz="1800" kern="100" dirty="0">
              <a:ea typeface="Calibri" panose="020F0502020204030204" pitchFamily="34" charset="0"/>
              <a:cs typeface="David" panose="020E0502060401010101" pitchFamily="34" charset="-79"/>
            </a:endParaRPr>
          </a:p>
        </p:txBody>
      </p:sp>
    </p:spTree>
    <p:extLst>
      <p:ext uri="{BB962C8B-B14F-4D97-AF65-F5344CB8AC3E}">
        <p14:creationId xmlns:p14="http://schemas.microsoft.com/office/powerpoint/2010/main" val="3932321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5ACC88-AFB2-3471-2865-4DE04A0A682F}"/>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B3B900E9-B606-D829-9D60-E8C606B5CDBC}"/>
              </a:ext>
            </a:extLst>
          </p:cNvPr>
          <p:cNvSpPr>
            <a:spLocks noGrp="1"/>
          </p:cNvSpPr>
          <p:nvPr>
            <p:ph type="title"/>
          </p:nvPr>
        </p:nvSpPr>
        <p:spPr>
          <a:xfrm>
            <a:off x="838200" y="282934"/>
            <a:ext cx="10515600" cy="621194"/>
          </a:xfrm>
        </p:spPr>
        <p:txBody>
          <a:bodyPr>
            <a:normAutofit/>
          </a:bodyPr>
          <a:lstStyle/>
          <a:p>
            <a:pPr algn="ctr" rtl="1">
              <a:lnSpc>
                <a:spcPct val="100000"/>
              </a:lnSpc>
              <a:spcAft>
                <a:spcPts val="800"/>
              </a:spcAft>
            </a:pPr>
            <a:r>
              <a:rPr lang="he-IL" sz="2400" b="1" kern="100" dirty="0">
                <a:ea typeface="Calibri" panose="020F0502020204030204" pitchFamily="34" charset="0"/>
                <a:cs typeface="David" panose="020E0502060401010101" pitchFamily="34" charset="-79"/>
              </a:rPr>
              <a:t>ממצאים מרכזיים</a:t>
            </a:r>
            <a:endParaRPr lang="en-IL" sz="2400" b="1" kern="100" dirty="0">
              <a:ea typeface="Calibri" panose="020F0502020204030204" pitchFamily="34" charset="0"/>
              <a:cs typeface="David" panose="020E0502060401010101" pitchFamily="34" charset="-79"/>
            </a:endParaRPr>
          </a:p>
        </p:txBody>
      </p:sp>
      <p:sp>
        <p:nvSpPr>
          <p:cNvPr id="3" name="מציין מיקום תוכן 2">
            <a:extLst>
              <a:ext uri="{FF2B5EF4-FFF2-40B4-BE49-F238E27FC236}">
                <a16:creationId xmlns:a16="http://schemas.microsoft.com/office/drawing/2014/main" id="{0D8ACE42-2788-1E13-69FC-344FDC2CA624}"/>
              </a:ext>
            </a:extLst>
          </p:cNvPr>
          <p:cNvSpPr>
            <a:spLocks noGrp="1"/>
          </p:cNvSpPr>
          <p:nvPr>
            <p:ph idx="1"/>
          </p:nvPr>
        </p:nvSpPr>
        <p:spPr>
          <a:xfrm>
            <a:off x="408214" y="930401"/>
            <a:ext cx="11376244" cy="2334215"/>
          </a:xfrm>
        </p:spPr>
        <p:txBody>
          <a:bodyPr>
            <a:noAutofit/>
          </a:bodyPr>
          <a:lstStyle/>
          <a:p>
            <a:pPr marL="0" indent="0" algn="r" rtl="1">
              <a:lnSpc>
                <a:spcPct val="100000"/>
              </a:lnSpc>
              <a:spcBef>
                <a:spcPts val="0"/>
              </a:spcBef>
              <a:buNone/>
            </a:pPr>
            <a:r>
              <a:rPr lang="he-IL" sz="1800" kern="100" dirty="0">
                <a:effectLst/>
                <a:ea typeface="Calibri" panose="020F0502020204030204" pitchFamily="34" charset="0"/>
                <a:cs typeface="David" panose="020E0502060401010101" pitchFamily="34" charset="-79"/>
              </a:rPr>
              <a:t>ראשית, שיטות גיבוב חזקות כגון </a:t>
            </a:r>
            <a:r>
              <a:rPr lang="en-US" sz="1800" kern="100" dirty="0" err="1">
                <a:effectLst/>
                <a:ea typeface="Calibri" panose="020F0502020204030204" pitchFamily="34" charset="0"/>
                <a:cs typeface="David" panose="020E0502060401010101" pitchFamily="34" charset="-79"/>
              </a:rPr>
              <a:t>bcrypt</a:t>
            </a:r>
            <a:r>
              <a:rPr lang="en-US" sz="1800" kern="100" dirty="0">
                <a:effectLst/>
                <a:ea typeface="Calibri" panose="020F0502020204030204" pitchFamily="34" charset="0"/>
                <a:cs typeface="David" panose="020E0502060401010101" pitchFamily="34" charset="-79"/>
              </a:rPr>
              <a:t> </a:t>
            </a:r>
            <a:r>
              <a:rPr lang="he-IL" sz="1800" kern="100" dirty="0">
                <a:effectLst/>
                <a:ea typeface="Calibri" panose="020F0502020204030204" pitchFamily="34" charset="0"/>
                <a:cs typeface="David" panose="020E0502060401010101" pitchFamily="34" charset="-79"/>
              </a:rPr>
              <a:t> ו־</a:t>
            </a:r>
            <a:r>
              <a:rPr lang="en-US" sz="1800" kern="100" dirty="0">
                <a:effectLst/>
                <a:ea typeface="Calibri" panose="020F0502020204030204" pitchFamily="34" charset="0"/>
                <a:cs typeface="David" panose="020E0502060401010101" pitchFamily="34" charset="-79"/>
              </a:rPr>
              <a:t>Argon2 </a:t>
            </a:r>
            <a:r>
              <a:rPr lang="he-IL" sz="1800" kern="100" dirty="0">
                <a:effectLst/>
                <a:ea typeface="Calibri" panose="020F0502020204030204" pitchFamily="34" charset="0"/>
                <a:cs typeface="David" panose="020E0502060401010101" pitchFamily="34" charset="-79"/>
              </a:rPr>
              <a:t> גורמות לעלייה משמעותית בזמני ההשהיה ולירידה חדה בקצב הניסיונות לשנייה, וממחישות את יעילותו של </a:t>
            </a:r>
            <a:r>
              <a:rPr lang="en-US" sz="1800" kern="100" dirty="0">
                <a:effectLst/>
                <a:ea typeface="Calibri" panose="020F0502020204030204" pitchFamily="34" charset="0"/>
                <a:cs typeface="David" panose="020E0502060401010101" pitchFamily="34" charset="-79"/>
              </a:rPr>
              <a:t>hashing </a:t>
            </a:r>
            <a:r>
              <a:rPr lang="he-IL" sz="1800" kern="100" dirty="0">
                <a:effectLst/>
                <a:ea typeface="Calibri" panose="020F0502020204030204" pitchFamily="34" charset="0"/>
                <a:cs typeface="David" panose="020E0502060401010101" pitchFamily="34" charset="-79"/>
              </a:rPr>
              <a:t>איטי כהגנה אפקטיבית גם ללא מנגנונים נוספים. </a:t>
            </a:r>
            <a:br>
              <a:rPr lang="en-US" sz="1800" kern="100" dirty="0">
                <a:effectLst/>
                <a:ea typeface="Calibri" panose="020F0502020204030204" pitchFamily="34" charset="0"/>
                <a:cs typeface="David" panose="020E0502060401010101" pitchFamily="34" charset="-79"/>
              </a:rPr>
            </a:br>
            <a:r>
              <a:rPr lang="he-IL" sz="1800" kern="100" dirty="0">
                <a:effectLst/>
                <a:ea typeface="Calibri" panose="020F0502020204030204" pitchFamily="34" charset="0"/>
                <a:cs typeface="David" panose="020E0502060401010101" pitchFamily="34" charset="-79"/>
              </a:rPr>
              <a:t>בנוסף, מנגנוני הגנה כמו </a:t>
            </a:r>
            <a:r>
              <a:rPr lang="en-US" sz="1800" kern="100" dirty="0">
                <a:effectLst/>
                <a:ea typeface="Calibri" panose="020F0502020204030204" pitchFamily="34" charset="0"/>
                <a:cs typeface="David" panose="020E0502060401010101" pitchFamily="34" charset="-79"/>
              </a:rPr>
              <a:t>TOTP, CAPTCHA, rate limiting </a:t>
            </a:r>
            <a:r>
              <a:rPr lang="he-IL" sz="1800" kern="100" dirty="0">
                <a:effectLst/>
                <a:ea typeface="Calibri" panose="020F0502020204030204" pitchFamily="34" charset="0"/>
                <a:cs typeface="David" panose="020E0502060401010101" pitchFamily="34" charset="-79"/>
              </a:rPr>
              <a:t> ו־</a:t>
            </a:r>
            <a:r>
              <a:rPr lang="en-US" sz="1800" kern="100" dirty="0">
                <a:effectLst/>
                <a:ea typeface="Calibri" panose="020F0502020204030204" pitchFamily="34" charset="0"/>
                <a:cs typeface="David" panose="020E0502060401010101" pitchFamily="34" charset="-79"/>
              </a:rPr>
              <a:t>lockout </a:t>
            </a:r>
            <a:r>
              <a:rPr lang="he-IL" sz="1800" kern="100" dirty="0">
                <a:effectLst/>
                <a:ea typeface="Calibri" panose="020F0502020204030204" pitchFamily="34" charset="0"/>
                <a:cs typeface="David" panose="020E0502060401010101" pitchFamily="34" charset="-79"/>
              </a:rPr>
              <a:t> מונעים בפועל הצלחה של מתקפות </a:t>
            </a:r>
            <a:r>
              <a:rPr lang="en-US" sz="1800" kern="100" dirty="0">
                <a:effectLst/>
                <a:ea typeface="Calibri" panose="020F0502020204030204" pitchFamily="34" charset="0"/>
                <a:cs typeface="David" panose="020E0502060401010101" pitchFamily="34" charset="-79"/>
              </a:rPr>
              <a:t>Brute Force </a:t>
            </a:r>
            <a:r>
              <a:rPr lang="he-IL" sz="1800" kern="100" dirty="0">
                <a:effectLst/>
                <a:ea typeface="Calibri" panose="020F0502020204030204" pitchFamily="34" charset="0"/>
                <a:cs typeface="David" panose="020E0502060401010101" pitchFamily="34" charset="-79"/>
              </a:rPr>
              <a:t> בהיקף גדול, כאשר ההתקפות מסתיימות עקב הפעלת ההגנות ולא עקב ניחוש סיסמה מוצלח. </a:t>
            </a:r>
            <a:br>
              <a:rPr lang="en-US" sz="1800" kern="100" dirty="0">
                <a:effectLst/>
                <a:ea typeface="Calibri" panose="020F0502020204030204" pitchFamily="34" charset="0"/>
                <a:cs typeface="David" panose="020E0502060401010101" pitchFamily="34" charset="-79"/>
              </a:rPr>
            </a:br>
            <a:r>
              <a:rPr lang="he-IL" sz="1800" kern="100" dirty="0">
                <a:effectLst/>
                <a:ea typeface="Calibri" panose="020F0502020204030204" pitchFamily="34" charset="0"/>
                <a:cs typeface="David" panose="020E0502060401010101" pitchFamily="34" charset="-79"/>
              </a:rPr>
              <a:t>במתקפות </a:t>
            </a:r>
            <a:r>
              <a:rPr lang="en-US" sz="1800" kern="100" dirty="0">
                <a:effectLst/>
                <a:ea typeface="Calibri" panose="020F0502020204030204" pitchFamily="34" charset="0"/>
                <a:cs typeface="David" panose="020E0502060401010101" pitchFamily="34" charset="-79"/>
              </a:rPr>
              <a:t>Password Spraying </a:t>
            </a:r>
            <a:r>
              <a:rPr lang="he-IL" sz="1800" kern="100" dirty="0">
                <a:effectLst/>
                <a:ea typeface="Calibri" panose="020F0502020204030204" pitchFamily="34" charset="0"/>
                <a:cs typeface="David" panose="020E0502060401010101" pitchFamily="34" charset="-79"/>
              </a:rPr>
              <a:t> שיעור ההצלחה נותר נמוך יחסית (כ־2%–3.5%), מה שמדגיש את אופי ההתקפה כפיזור ניסיונות על פני משתמשים רבים. </a:t>
            </a:r>
            <a:br>
              <a:rPr lang="en-US" sz="1800" kern="100" dirty="0">
                <a:effectLst/>
                <a:ea typeface="Calibri" panose="020F0502020204030204" pitchFamily="34" charset="0"/>
                <a:cs typeface="David" panose="020E0502060401010101" pitchFamily="34" charset="-79"/>
              </a:rPr>
            </a:br>
            <a:r>
              <a:rPr lang="he-IL" sz="1800" kern="100" dirty="0">
                <a:effectLst/>
                <a:ea typeface="Calibri" panose="020F0502020204030204" pitchFamily="34" charset="0"/>
                <a:cs typeface="David" panose="020E0502060401010101" pitchFamily="34" charset="-79"/>
              </a:rPr>
              <a:t>לבסוף, ניתוח מתקפות </a:t>
            </a:r>
            <a:r>
              <a:rPr lang="en-US" sz="1800" kern="100" dirty="0">
                <a:effectLst/>
                <a:ea typeface="Calibri" panose="020F0502020204030204" pitchFamily="34" charset="0"/>
                <a:cs typeface="David" panose="020E0502060401010101" pitchFamily="34" charset="-79"/>
              </a:rPr>
              <a:t>Brute Force </a:t>
            </a:r>
            <a:r>
              <a:rPr lang="he-IL" sz="1800" kern="100" dirty="0">
                <a:effectLst/>
                <a:ea typeface="Calibri" panose="020F0502020204030204" pitchFamily="34" charset="0"/>
                <a:cs typeface="David" panose="020E0502060401010101" pitchFamily="34" charset="-79"/>
              </a:rPr>
              <a:t> ללא הגנות על משתמשים בעלי חוזק סיסמאות שונה מראה שחוזק הסיסמה משפיע ישירות על סיכויי ההצלחה: סיסמה חלשה נפרצה במהירות, בינונית לאט יותר, וסיסמה חזקה לא נפרצה כלל.</a:t>
            </a:r>
          </a:p>
          <a:p>
            <a:pPr marL="0" indent="0" algn="r" rtl="1">
              <a:lnSpc>
                <a:spcPct val="100000"/>
              </a:lnSpc>
              <a:spcBef>
                <a:spcPts val="0"/>
              </a:spcBef>
              <a:buNone/>
            </a:pPr>
            <a:endParaRPr lang="en-IL" sz="1800" kern="100" dirty="0">
              <a:effectLst/>
              <a:ea typeface="Calibri" panose="020F0502020204030204" pitchFamily="34" charset="0"/>
              <a:cs typeface="David" panose="020E0502060401010101" pitchFamily="34" charset="-79"/>
            </a:endParaRPr>
          </a:p>
        </p:txBody>
      </p:sp>
      <p:sp>
        <p:nvSpPr>
          <p:cNvPr id="5" name="כותרת 1">
            <a:extLst>
              <a:ext uri="{FF2B5EF4-FFF2-40B4-BE49-F238E27FC236}">
                <a16:creationId xmlns:a16="http://schemas.microsoft.com/office/drawing/2014/main" id="{8B3534D2-E58A-EC4C-26EC-BB9B171CD0F8}"/>
              </a:ext>
            </a:extLst>
          </p:cNvPr>
          <p:cNvSpPr txBox="1">
            <a:spLocks/>
          </p:cNvSpPr>
          <p:nvPr/>
        </p:nvSpPr>
        <p:spPr>
          <a:xfrm>
            <a:off x="838200" y="3305712"/>
            <a:ext cx="10515600" cy="637001"/>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a:lstStyle>
          <a:p>
            <a:pPr algn="ctr" rtl="1">
              <a:lnSpc>
                <a:spcPct val="100000"/>
              </a:lnSpc>
              <a:spcAft>
                <a:spcPts val="800"/>
              </a:spcAft>
            </a:pPr>
            <a:r>
              <a:rPr lang="he-IL" sz="2400" b="1" kern="100" dirty="0">
                <a:ea typeface="Calibri" panose="020F0502020204030204" pitchFamily="34" charset="0"/>
                <a:cs typeface="David" panose="020E0502060401010101" pitchFamily="34" charset="-79"/>
              </a:rPr>
              <a:t>ביקורת</a:t>
            </a:r>
            <a:endParaRPr lang="en-IL" sz="2400" b="1" kern="100" dirty="0">
              <a:ea typeface="Calibri" panose="020F0502020204030204" pitchFamily="34" charset="0"/>
              <a:cs typeface="David" panose="020E0502060401010101" pitchFamily="34" charset="-79"/>
            </a:endParaRPr>
          </a:p>
        </p:txBody>
      </p:sp>
      <p:sp>
        <p:nvSpPr>
          <p:cNvPr id="6" name="מציין מיקום תוכן 2">
            <a:extLst>
              <a:ext uri="{FF2B5EF4-FFF2-40B4-BE49-F238E27FC236}">
                <a16:creationId xmlns:a16="http://schemas.microsoft.com/office/drawing/2014/main" id="{908D3140-E92B-34F0-3F72-18BD3D6256FD}"/>
              </a:ext>
            </a:extLst>
          </p:cNvPr>
          <p:cNvSpPr txBox="1">
            <a:spLocks/>
          </p:cNvSpPr>
          <p:nvPr/>
        </p:nvSpPr>
        <p:spPr>
          <a:xfrm>
            <a:off x="254000" y="3893910"/>
            <a:ext cx="12424310" cy="504846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914400" lvl="2" indent="0" algn="r" rtl="1">
              <a:lnSpc>
                <a:spcPct val="100000"/>
              </a:lnSpc>
              <a:spcBef>
                <a:spcPts val="0"/>
              </a:spcBef>
              <a:spcAft>
                <a:spcPts val="800"/>
              </a:spcAft>
              <a:buSzPts val="1000"/>
              <a:buFont typeface="Arial" panose="020B0604020202020204" pitchFamily="34" charset="0"/>
              <a:buNone/>
              <a:tabLst>
                <a:tab pos="457200" algn="l"/>
              </a:tabLst>
            </a:pPr>
            <a:r>
              <a:rPr lang="he-IL" sz="1800" kern="100" dirty="0">
                <a:ea typeface="Calibri" panose="020F0502020204030204" pitchFamily="34" charset="0"/>
                <a:cs typeface="David" panose="020E0502060401010101" pitchFamily="34" charset="-79"/>
              </a:rPr>
              <a:t>שיעור ההצלחה הזהה (3.57%) במתקפות </a:t>
            </a:r>
            <a:r>
              <a:rPr lang="en-US" sz="1800" kern="100" dirty="0">
                <a:ea typeface="Calibri" panose="020F0502020204030204" pitchFamily="34" charset="0"/>
                <a:cs typeface="David" panose="020E0502060401010101" pitchFamily="34" charset="-79"/>
              </a:rPr>
              <a:t>Password Spraying </a:t>
            </a:r>
            <a:r>
              <a:rPr lang="he-IL" sz="1800" kern="100" dirty="0">
                <a:ea typeface="Calibri" panose="020F0502020204030204" pitchFamily="34" charset="0"/>
                <a:cs typeface="David" panose="020E0502060401010101" pitchFamily="34" charset="-79"/>
              </a:rPr>
              <a:t> תחת שילובי הגנות שונים מצביע ככל הנראה על מגבלת סימולציה, שבה ההגנות משפיעות על אופן סיום ההתקפה אך לא על סיכויי ההצלחה. </a:t>
            </a:r>
            <a:br>
              <a:rPr lang="en-US" sz="1800" kern="100" dirty="0">
                <a:ea typeface="Calibri" panose="020F0502020204030204" pitchFamily="34" charset="0"/>
                <a:cs typeface="David" panose="020E0502060401010101" pitchFamily="34" charset="-79"/>
              </a:rPr>
            </a:br>
            <a:r>
              <a:rPr lang="he-IL" sz="1800" kern="100" dirty="0">
                <a:ea typeface="Calibri" panose="020F0502020204030204" pitchFamily="34" charset="0"/>
                <a:cs typeface="David" panose="020E0502060401010101" pitchFamily="34" charset="-79"/>
              </a:rPr>
              <a:t>יעילות מנגנונים כמו </a:t>
            </a:r>
            <a:r>
              <a:rPr lang="en-US" sz="1800" kern="100" dirty="0">
                <a:ea typeface="Calibri" panose="020F0502020204030204" pitchFamily="34" charset="0"/>
                <a:cs typeface="David" panose="020E0502060401010101" pitchFamily="34" charset="-79"/>
              </a:rPr>
              <a:t>Rate Limiting </a:t>
            </a:r>
            <a:r>
              <a:rPr lang="he-IL" sz="1800" kern="100" dirty="0">
                <a:ea typeface="Calibri" panose="020F0502020204030204" pitchFamily="34" charset="0"/>
                <a:cs typeface="David" panose="020E0502060401010101" pitchFamily="34" charset="-79"/>
              </a:rPr>
              <a:t> ו־</a:t>
            </a:r>
            <a:r>
              <a:rPr lang="en-US" sz="1800" kern="100" dirty="0">
                <a:ea typeface="Calibri" panose="020F0502020204030204" pitchFamily="34" charset="0"/>
                <a:cs typeface="David" panose="020E0502060401010101" pitchFamily="34" charset="-79"/>
              </a:rPr>
              <a:t>Lockout </a:t>
            </a:r>
            <a:r>
              <a:rPr lang="he-IL" sz="1800" kern="100" dirty="0">
                <a:ea typeface="Calibri" panose="020F0502020204030204" pitchFamily="34" charset="0"/>
                <a:cs typeface="David" panose="020E0502060401010101" pitchFamily="34" charset="-79"/>
              </a:rPr>
              <a:t> מוגבלת בהקשר זה, משום ש־</a:t>
            </a:r>
            <a:r>
              <a:rPr lang="en-US" sz="1800" kern="100" dirty="0">
                <a:ea typeface="Calibri" panose="020F0502020204030204" pitchFamily="34" charset="0"/>
                <a:cs typeface="David" panose="020E0502060401010101" pitchFamily="34" charset="-79"/>
              </a:rPr>
              <a:t>Password Spraying </a:t>
            </a:r>
            <a:r>
              <a:rPr lang="he-IL" sz="1800" kern="100" dirty="0">
                <a:ea typeface="Calibri" panose="020F0502020204030204" pitchFamily="34" charset="0"/>
                <a:cs typeface="David" panose="020E0502060401010101" pitchFamily="34" charset="-79"/>
              </a:rPr>
              <a:t> כולל מעט ניסיונות לכל משתמש ו</a:t>
            </a:r>
            <a:r>
              <a:rPr lang="he-IL" sz="1800" kern="100" dirty="0">
                <a:ea typeface="Times New Roman" panose="02020603050405020304" pitchFamily="18" charset="0"/>
                <a:cs typeface="David" panose="020E0502060401010101" pitchFamily="34" charset="-79"/>
              </a:rPr>
              <a:t>התוקף בדרך כלל מבצע פחות ניסיונות התחברות מאשר הכמות המוגבלת ולכן הגנות אלו לא משפיעות עליו. בנוסף, בניסוי זה ההגבלה מבוססת על נעילה לפי שם משתמש ולא על בסיס כתובת</a:t>
            </a:r>
            <a:r>
              <a:rPr lang="en-US" sz="1800" kern="100" dirty="0">
                <a:ea typeface="Times New Roman" panose="02020603050405020304" pitchFamily="18" charset="0"/>
                <a:cs typeface="David" panose="020E0502060401010101" pitchFamily="34" charset="-79"/>
              </a:rPr>
              <a:t> IP  </a:t>
            </a:r>
            <a:r>
              <a:rPr lang="he-IL" sz="1800" kern="100" dirty="0">
                <a:ea typeface="Times New Roman" panose="02020603050405020304" pitchFamily="18" charset="0"/>
                <a:cs typeface="David" panose="020E0502060401010101" pitchFamily="34" charset="-79"/>
              </a:rPr>
              <a:t>ובדרך כלל תוקף ינסה להתחבר עם משתמשים שונים מכתובת </a:t>
            </a:r>
            <a:r>
              <a:rPr lang="en-US" sz="1800" kern="100" dirty="0">
                <a:ea typeface="Times New Roman" panose="02020603050405020304" pitchFamily="18" charset="0"/>
                <a:cs typeface="David" panose="020E0502060401010101" pitchFamily="34" charset="-79"/>
              </a:rPr>
              <a:t>IP</a:t>
            </a:r>
            <a:r>
              <a:rPr lang="he-IL" sz="1800" kern="100" dirty="0">
                <a:ea typeface="Times New Roman" panose="02020603050405020304" pitchFamily="18" charset="0"/>
                <a:cs typeface="David" panose="020E0502060401010101" pitchFamily="34" charset="-79"/>
              </a:rPr>
              <a:t> אחת</a:t>
            </a:r>
            <a:r>
              <a:rPr lang="en-US" sz="1800" kern="100" dirty="0">
                <a:ea typeface="Times New Roman" panose="02020603050405020304" pitchFamily="18" charset="0"/>
                <a:cs typeface="David" panose="020E0502060401010101" pitchFamily="34" charset="-79"/>
              </a:rPr>
              <a:t>.</a:t>
            </a:r>
            <a:r>
              <a:rPr lang="he-IL" sz="1800" kern="100" dirty="0">
                <a:ea typeface="Calibri" panose="020F0502020204030204" pitchFamily="34" charset="0"/>
                <a:cs typeface="David" panose="020E0502060401010101" pitchFamily="34" charset="-79"/>
              </a:rPr>
              <a:t>  </a:t>
            </a:r>
            <a:br>
              <a:rPr lang="en-US" sz="1800" kern="100" dirty="0">
                <a:ea typeface="Calibri" panose="020F0502020204030204" pitchFamily="34" charset="0"/>
                <a:cs typeface="David" panose="020E0502060401010101" pitchFamily="34" charset="-79"/>
              </a:rPr>
            </a:br>
            <a:r>
              <a:rPr lang="he-IL" sz="1800" kern="100" dirty="0">
                <a:ea typeface="Calibri" panose="020F0502020204030204" pitchFamily="34" charset="0"/>
                <a:cs typeface="David" panose="020E0502060401010101" pitchFamily="34" charset="-79"/>
              </a:rPr>
              <a:t>זאת ועוד, זמני ההשהיה הנמוכים מאוד עבור </a:t>
            </a:r>
            <a:r>
              <a:rPr lang="en-US" sz="1800" kern="100" dirty="0">
                <a:ea typeface="Calibri" panose="020F0502020204030204" pitchFamily="34" charset="0"/>
                <a:cs typeface="David" panose="020E0502060401010101" pitchFamily="34" charset="-79"/>
              </a:rPr>
              <a:t>hashing </a:t>
            </a:r>
            <a:r>
              <a:rPr lang="he-IL" sz="1800" kern="100" dirty="0">
                <a:ea typeface="Calibri" panose="020F0502020204030204" pitchFamily="34" charset="0"/>
                <a:cs typeface="David" panose="020E0502060401010101" pitchFamily="34" charset="-79"/>
              </a:rPr>
              <a:t> מהיר יוצרים קצבי ניסיונות לא ריאליים, שאינם מייצגים סביבת </a:t>
            </a:r>
            <a:r>
              <a:rPr lang="he-IL" sz="1800" kern="100" dirty="0" err="1">
                <a:ea typeface="Calibri" panose="020F0502020204030204" pitchFamily="34" charset="0"/>
                <a:cs typeface="David" panose="020E0502060401010101" pitchFamily="34" charset="-79"/>
              </a:rPr>
              <a:t>פרודקשן</a:t>
            </a:r>
            <a:r>
              <a:rPr lang="he-IL" sz="1800" kern="100" dirty="0">
                <a:ea typeface="Calibri" panose="020F0502020204030204" pitchFamily="34" charset="0"/>
                <a:cs typeface="David" panose="020E0502060401010101" pitchFamily="34" charset="-79"/>
              </a:rPr>
              <a:t>. </a:t>
            </a:r>
            <a:br>
              <a:rPr lang="en-US" sz="1800" kern="100" dirty="0">
                <a:ea typeface="Calibri" panose="020F0502020204030204" pitchFamily="34" charset="0"/>
                <a:cs typeface="David" panose="020E0502060401010101" pitchFamily="34" charset="-79"/>
              </a:rPr>
            </a:br>
            <a:r>
              <a:rPr lang="he-IL" sz="1800" kern="100" dirty="0">
                <a:ea typeface="Calibri" panose="020F0502020204030204" pitchFamily="34" charset="0"/>
                <a:cs typeface="David" panose="020E0502060401010101" pitchFamily="34" charset="-79"/>
              </a:rPr>
              <a:t>שיעורי הצלחה גבוהים יחסית בניסויי </a:t>
            </a:r>
            <a:r>
              <a:rPr lang="en-US" sz="1800" kern="100" dirty="0">
                <a:ea typeface="Calibri" panose="020F0502020204030204" pitchFamily="34" charset="0"/>
                <a:cs typeface="David" panose="020E0502060401010101" pitchFamily="34" charset="-79"/>
              </a:rPr>
              <a:t>Brute Force </a:t>
            </a:r>
            <a:r>
              <a:rPr lang="he-IL" sz="1800" kern="100" dirty="0">
                <a:ea typeface="Calibri" panose="020F0502020204030204" pitchFamily="34" charset="0"/>
                <a:cs typeface="David" panose="020E0502060401010101" pitchFamily="34" charset="-79"/>
              </a:rPr>
              <a:t> עם מספר ניסיונות קטן מושפעים מגודל מדגם מצומצם, ואינם מעידים על עמידות המערכת. </a:t>
            </a:r>
            <a:br>
              <a:rPr lang="en-US" sz="1800" kern="100" dirty="0">
                <a:ea typeface="Calibri" panose="020F0502020204030204" pitchFamily="34" charset="0"/>
                <a:cs typeface="David" panose="020E0502060401010101" pitchFamily="34" charset="-79"/>
              </a:rPr>
            </a:br>
            <a:r>
              <a:rPr lang="he-IL" sz="1800" kern="100" dirty="0">
                <a:ea typeface="Calibri" panose="020F0502020204030204" pitchFamily="34" charset="0"/>
                <a:cs typeface="David" panose="020E0502060401010101" pitchFamily="34" charset="-79"/>
              </a:rPr>
              <a:t>לבסוף, מנגנוני </a:t>
            </a:r>
            <a:r>
              <a:rPr lang="en-US" sz="1800" kern="100" dirty="0">
                <a:ea typeface="Calibri" panose="020F0502020204030204" pitchFamily="34" charset="0"/>
                <a:cs typeface="David" panose="020E0502060401010101" pitchFamily="34" charset="-79"/>
              </a:rPr>
              <a:t>CAPTCHA </a:t>
            </a:r>
            <a:r>
              <a:rPr lang="he-IL" sz="1800" kern="100" dirty="0">
                <a:ea typeface="Calibri" panose="020F0502020204030204" pitchFamily="34" charset="0"/>
                <a:cs typeface="David" panose="020E0502060401010101" pitchFamily="34" charset="-79"/>
              </a:rPr>
              <a:t> ו־</a:t>
            </a:r>
            <a:r>
              <a:rPr lang="en-US" sz="1800" kern="100" dirty="0">
                <a:ea typeface="Calibri" panose="020F0502020204030204" pitchFamily="34" charset="0"/>
                <a:cs typeface="David" panose="020E0502060401010101" pitchFamily="34" charset="-79"/>
              </a:rPr>
              <a:t>TOTP </a:t>
            </a:r>
            <a:r>
              <a:rPr lang="he-IL" sz="1800" kern="100" dirty="0">
                <a:ea typeface="Calibri" panose="020F0502020204030204" pitchFamily="34" charset="0"/>
                <a:cs typeface="David" panose="020E0502060401010101" pitchFamily="34" charset="-79"/>
              </a:rPr>
              <a:t> מסיימים התקפות בהצלחה מבחינת ההגנה, אך המימוש </a:t>
            </a:r>
            <a:r>
              <a:rPr lang="he-IL" sz="1800" kern="100" dirty="0" err="1">
                <a:ea typeface="Calibri" panose="020F0502020204030204" pitchFamily="34" charset="0"/>
                <a:cs typeface="David" panose="020E0502060401010101" pitchFamily="34" charset="-79"/>
              </a:rPr>
              <a:t>הסימולטיבי</a:t>
            </a:r>
            <a:r>
              <a:rPr lang="he-IL" sz="1800" kern="100" dirty="0">
                <a:ea typeface="Calibri" panose="020F0502020204030204" pitchFamily="34" charset="0"/>
                <a:cs typeface="David" panose="020E0502060401010101" pitchFamily="34" charset="-79"/>
              </a:rPr>
              <a:t> אינו מדמה פתרון אמיתי של האתגרים ולכן ייתכן שהיעילות שלהם מוערכת יתר על המידה.</a:t>
            </a:r>
          </a:p>
        </p:txBody>
      </p:sp>
    </p:spTree>
    <p:extLst>
      <p:ext uri="{BB962C8B-B14F-4D97-AF65-F5344CB8AC3E}">
        <p14:creationId xmlns:p14="http://schemas.microsoft.com/office/powerpoint/2010/main" val="97359823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C388E7-C262-6C8F-7871-BE92E6B34575}"/>
            </a:ext>
          </a:extLst>
        </p:cNvPr>
        <p:cNvGrpSpPr/>
        <p:nvPr/>
      </p:nvGrpSpPr>
      <p:grpSpPr>
        <a:xfrm>
          <a:off x="0" y="0"/>
          <a:ext cx="0" cy="0"/>
          <a:chOff x="0" y="0"/>
          <a:chExt cx="0" cy="0"/>
        </a:xfrm>
      </p:grpSpPr>
      <p:sp>
        <p:nvSpPr>
          <p:cNvPr id="2" name="כותרת 1">
            <a:extLst>
              <a:ext uri="{FF2B5EF4-FFF2-40B4-BE49-F238E27FC236}">
                <a16:creationId xmlns:a16="http://schemas.microsoft.com/office/drawing/2014/main" id="{CFC6B50A-D287-ACE4-3612-B15339E9FC5D}"/>
              </a:ext>
            </a:extLst>
          </p:cNvPr>
          <p:cNvSpPr>
            <a:spLocks noGrp="1"/>
          </p:cNvSpPr>
          <p:nvPr>
            <p:ph type="title"/>
          </p:nvPr>
        </p:nvSpPr>
        <p:spPr>
          <a:xfrm>
            <a:off x="838200" y="-56112"/>
            <a:ext cx="10515600" cy="1325563"/>
          </a:xfrm>
        </p:spPr>
        <p:txBody>
          <a:bodyPr/>
          <a:lstStyle/>
          <a:p>
            <a:pPr algn="ctr" rtl="1">
              <a:lnSpc>
                <a:spcPct val="150000"/>
              </a:lnSpc>
              <a:spcAft>
                <a:spcPts val="800"/>
              </a:spcAft>
            </a:pPr>
            <a:r>
              <a:rPr lang="he-IL" kern="100" dirty="0">
                <a:latin typeface="David" panose="020E0502060401010101" pitchFamily="34" charset="-79"/>
                <a:ea typeface="Calibri" panose="020F0502020204030204" pitchFamily="34" charset="0"/>
                <a:cs typeface="David" panose="020E0502060401010101" pitchFamily="34" charset="-79"/>
              </a:rPr>
              <a:t>מגבלות הניסוי</a:t>
            </a:r>
            <a:endParaRPr lang="en-IL" kern="100" dirty="0">
              <a:latin typeface="David" panose="020E0502060401010101" pitchFamily="34" charset="-79"/>
              <a:ea typeface="Calibri" panose="020F0502020204030204" pitchFamily="34" charset="0"/>
              <a:cs typeface="David" panose="020E0502060401010101" pitchFamily="34" charset="-79"/>
            </a:endParaRPr>
          </a:p>
        </p:txBody>
      </p:sp>
      <mc:AlternateContent xmlns:mc="http://schemas.openxmlformats.org/markup-compatibility/2006" xmlns:a14="http://schemas.microsoft.com/office/drawing/2010/main">
        <mc:Choice Requires="a14">
          <p:sp>
            <p:nvSpPr>
              <p:cNvPr id="3" name="מציין מיקום תוכן 2">
                <a:extLst>
                  <a:ext uri="{FF2B5EF4-FFF2-40B4-BE49-F238E27FC236}">
                    <a16:creationId xmlns:a16="http://schemas.microsoft.com/office/drawing/2014/main" id="{AA4E9F21-478E-06B2-69D3-767CB9395959}"/>
                  </a:ext>
                </a:extLst>
              </p:cNvPr>
              <p:cNvSpPr>
                <a:spLocks noGrp="1"/>
              </p:cNvSpPr>
              <p:nvPr>
                <p:ph idx="1"/>
              </p:nvPr>
            </p:nvSpPr>
            <p:spPr>
              <a:xfrm>
                <a:off x="408214" y="1130157"/>
                <a:ext cx="10945586" cy="5727843"/>
              </a:xfrm>
            </p:spPr>
            <p:txBody>
              <a:bodyPr>
                <a:normAutofit fontScale="92500"/>
              </a:bodyPr>
              <a:lstStyle/>
              <a:p>
                <a:pPr algn="just" rtl="1">
                  <a:lnSpc>
                    <a:spcPct val="150000"/>
                  </a:lnSpc>
                  <a:spcBef>
                    <a:spcPts val="0"/>
                  </a:spcBef>
                  <a:spcAft>
                    <a:spcPts val="800"/>
                  </a:spcAft>
                  <a:buNone/>
                </a:pPr>
                <a:r>
                  <a:rPr lang="he-IL" sz="1600" b="1" kern="100" dirty="0">
                    <a:effectLst/>
                    <a:ea typeface="Calibri" panose="020F0502020204030204" pitchFamily="34" charset="0"/>
                    <a:cs typeface="David" panose="020E0502060401010101" pitchFamily="34" charset="-79"/>
                  </a:rPr>
                  <a:t>מגבלות הניסוי: </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עוצמת חומרה מוגבלת וסביבה מקומית</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he-IL" sz="1600" kern="100" dirty="0">
                    <a:effectLst/>
                    <a:ea typeface="Calibri" panose="020F0502020204030204" pitchFamily="34" charset="0"/>
                    <a:cs typeface="David" panose="020E0502060401010101" pitchFamily="34" charset="-79"/>
                  </a:rPr>
                  <a:t>הניסוי רץ על מחשב בודד ולכן זמני חישוב</a:t>
                </a:r>
                <a:r>
                  <a:rPr lang="en-US" sz="1600" kern="100" dirty="0">
                    <a:effectLst/>
                    <a:latin typeface="David" panose="020E0502060401010101" pitchFamily="34" charset="-79"/>
                    <a:ea typeface="Calibri" panose="020F0502020204030204" pitchFamily="34" charset="0"/>
                    <a:cs typeface="David" panose="020E0502060401010101" pitchFamily="34" charset="-79"/>
                  </a:rPr>
                  <a:t>/throughput </a:t>
                </a:r>
                <a:r>
                  <a:rPr lang="he-IL" sz="1600" kern="100" dirty="0">
                    <a:effectLst/>
                    <a:ea typeface="Calibri" panose="020F0502020204030204" pitchFamily="34" charset="0"/>
                    <a:cs typeface="David" panose="020E0502060401010101" pitchFamily="34" charset="-79"/>
                  </a:rPr>
                  <a:t>לא מייצגים תוקף עם תשתית רחבה/</a:t>
                </a:r>
                <a:r>
                  <a:rPr lang="he-IL" sz="1600" kern="100" dirty="0" err="1">
                    <a:effectLst/>
                    <a:ea typeface="Calibri" panose="020F0502020204030204" pitchFamily="34" charset="0"/>
                    <a:cs typeface="David" panose="020E0502060401010101" pitchFamily="34" charset="-79"/>
                  </a:rPr>
                  <a:t>בוטנט</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מספר משתמשים קטן</a:t>
                </a:r>
                <a:r>
                  <a:rPr lang="he-IL" sz="1600" kern="100" dirty="0">
                    <a:effectLst/>
                    <a:ea typeface="Calibri" panose="020F0502020204030204" pitchFamily="34" charset="0"/>
                    <a:cs typeface="David" panose="020E0502060401010101" pitchFamily="34" charset="-79"/>
                  </a:rPr>
                  <a:t> (30 משתמשים): בעולם אמיתי</a:t>
                </a:r>
                <a:r>
                  <a:rPr lang="en-US" sz="1600" kern="100" dirty="0">
                    <a:effectLst/>
                    <a:latin typeface="David" panose="020E0502060401010101" pitchFamily="34" charset="-79"/>
                    <a:ea typeface="Calibri" panose="020F0502020204030204" pitchFamily="34" charset="0"/>
                    <a:cs typeface="David" panose="020E0502060401010101" pitchFamily="34" charset="-79"/>
                  </a:rPr>
                  <a:t> spraying </a:t>
                </a:r>
                <a:r>
                  <a:rPr lang="he-IL" sz="1600" kern="100" dirty="0">
                    <a:effectLst/>
                    <a:ea typeface="Calibri" panose="020F0502020204030204" pitchFamily="34" charset="0"/>
                    <a:cs typeface="David" panose="020E0502060401010101" pitchFamily="34" charset="-79"/>
                  </a:rPr>
                  <a:t>עובד על אלפים/מיליונים, ולכן הדינמיקה משתנה</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כלי תקיפה פשוטים: </a:t>
                </a:r>
                <a:r>
                  <a:rPr lang="he-IL" sz="1600" kern="100" dirty="0">
                    <a:effectLst/>
                    <a:ea typeface="Calibri" panose="020F0502020204030204" pitchFamily="34" charset="0"/>
                    <a:cs typeface="David" panose="020E0502060401010101" pitchFamily="34" charset="-79"/>
                  </a:rPr>
                  <a:t>התוקף בסימולציה משתמש בלולאות בסיסיות, בלי התאמות מתקדמות (הפצת עומס, מודיעין על משתמשים, התאמת מילונים</a:t>
                </a:r>
                <a:r>
                  <a:rPr lang="en-US" sz="1600" kern="100" dirty="0">
                    <a:effectLst/>
                    <a:latin typeface="David" panose="020E0502060401010101" pitchFamily="34" charset="-79"/>
                    <a:ea typeface="Calibri" panose="020F0502020204030204" pitchFamily="34" charset="0"/>
                    <a:cs typeface="David" panose="020E0502060401010101" pitchFamily="34" charset="-79"/>
                  </a:rPr>
                  <a:t>, fingerprinting,  </a:t>
                </a:r>
                <a:r>
                  <a:rPr lang="he-IL" sz="1600" kern="100" dirty="0" err="1">
                    <a:effectLst/>
                    <a:ea typeface="Calibri" panose="020F0502020204030204" pitchFamily="34" charset="0"/>
                    <a:cs typeface="David" panose="020E0502060401010101" pitchFamily="34" charset="-79"/>
                  </a:rPr>
                  <a:t>וכו</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r>
                  <a:rPr lang="he-IL" sz="1600" kern="100" dirty="0">
                    <a:effectLst/>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מודל רשת לא מציאותי</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he-IL" sz="1600" kern="100" dirty="0">
                    <a:effectLst/>
                    <a:ea typeface="Calibri" panose="020F0502020204030204" pitchFamily="34" charset="0"/>
                    <a:cs typeface="David" panose="020E0502060401010101" pitchFamily="34" charset="-79"/>
                  </a:rPr>
                  <a:t>השרת הוא סימולציה פנימית ולא</a:t>
                </a:r>
                <a:r>
                  <a:rPr lang="en-US" sz="1600" kern="100" dirty="0">
                    <a:effectLst/>
                    <a:latin typeface="David" panose="020E0502060401010101" pitchFamily="34" charset="-79"/>
                    <a:ea typeface="Calibri" panose="020F0502020204030204" pitchFamily="34" charset="0"/>
                    <a:cs typeface="David" panose="020E0502060401010101" pitchFamily="34" charset="-79"/>
                  </a:rPr>
                  <a:t> HTTP </a:t>
                </a:r>
                <a:r>
                  <a:rPr lang="he-IL" sz="1600" kern="100" dirty="0">
                    <a:effectLst/>
                    <a:ea typeface="Calibri" panose="020F0502020204030204" pitchFamily="34" charset="0"/>
                    <a:cs typeface="David" panose="020E0502060401010101" pitchFamily="34" charset="-79"/>
                  </a:rPr>
                  <a:t>אמיתי, אין</a:t>
                </a:r>
                <a:r>
                  <a:rPr lang="en-US" sz="1600" kern="100" dirty="0">
                    <a:effectLst/>
                    <a:latin typeface="David" panose="020E0502060401010101" pitchFamily="34" charset="-79"/>
                    <a:ea typeface="Calibri" panose="020F0502020204030204" pitchFamily="34" charset="0"/>
                    <a:cs typeface="David" panose="020E0502060401010101" pitchFamily="34" charset="-79"/>
                  </a:rPr>
                  <a:t> latency  </a:t>
                </a:r>
                <a:r>
                  <a:rPr lang="he-IL" sz="1600" kern="100" dirty="0">
                    <a:effectLst/>
                    <a:ea typeface="Calibri" panose="020F0502020204030204" pitchFamily="34" charset="0"/>
                    <a:cs typeface="David" panose="020E0502060401010101" pitchFamily="34" charset="-79"/>
                  </a:rPr>
                  <a:t>רשת, אין שגיאות תקשורת, ואין עומסים/תורים</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הנחות פשטניות לגבי </a:t>
                </a:r>
                <a:r>
                  <a:rPr lang="en-US" sz="1600" b="1" kern="100" dirty="0">
                    <a:effectLst/>
                    <a:latin typeface="David" panose="020E0502060401010101" pitchFamily="34" charset="-79"/>
                    <a:ea typeface="Calibri" panose="020F0502020204030204" pitchFamily="34" charset="0"/>
                    <a:cs typeface="David" panose="020E0502060401010101" pitchFamily="34" charset="-79"/>
                  </a:rPr>
                  <a:t>CAPTCHA</a:t>
                </a:r>
                <a:r>
                  <a:rPr lang="he-IL" sz="1600" b="1" kern="100" dirty="0">
                    <a:effectLst/>
                    <a:ea typeface="Calibri" panose="020F0502020204030204" pitchFamily="34" charset="0"/>
                    <a:cs typeface="David" panose="020E0502060401010101" pitchFamily="34" charset="-79"/>
                  </a:rPr>
                  <a:t>: </a:t>
                </a:r>
                <a:r>
                  <a:rPr lang="en-US" sz="1600" kern="100" dirty="0">
                    <a:effectLst/>
                    <a:latin typeface="David" panose="020E0502060401010101" pitchFamily="34" charset="-79"/>
                    <a:ea typeface="Calibri" panose="020F0502020204030204" pitchFamily="34" charset="0"/>
                    <a:cs typeface="David" panose="020E0502060401010101" pitchFamily="34" charset="-79"/>
                  </a:rPr>
                  <a:t>CAPTCHA</a:t>
                </a:r>
                <a:r>
                  <a:rPr lang="he-IL" sz="1600" kern="100" dirty="0">
                    <a:effectLst/>
                    <a:ea typeface="Calibri" panose="020F0502020204030204" pitchFamily="34" charset="0"/>
                    <a:cs typeface="David" panose="020E0502060401010101" pitchFamily="34" charset="-79"/>
                  </a:rPr>
                  <a:t> הוא סימולציה, ולא פתרון אמיתי של תמונות. נמדד תחת הנחה שהשעונים מסונכרנים מספיק</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זמן ניסוי קצר / מספר חזרות</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he-IL" sz="1600" kern="100" dirty="0">
                    <a:effectLst/>
                    <a:ea typeface="Calibri" panose="020F0502020204030204" pitchFamily="34" charset="0"/>
                    <a:cs typeface="David" panose="020E0502060401010101" pitchFamily="34" charset="-79"/>
                  </a:rPr>
                  <a:t>אם לא מריצים הרבה רפלקציות, קשה לאפיין יציבות סטטיסטית</a:t>
                </a:r>
                <a:r>
                  <a:rPr lang="en-US" sz="1600" kern="100" dirty="0">
                    <a:effectLst/>
                    <a:latin typeface="David" panose="020E0502060401010101" pitchFamily="34" charset="-79"/>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spcAft>
                    <a:spcPts val="800"/>
                  </a:spcAft>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ההגנה של </a:t>
                </a:r>
                <a14:m>
                  <m:oMath xmlns:m="http://schemas.openxmlformats.org/officeDocument/2006/math">
                    <m:r>
                      <a:rPr lang="en-US" sz="1600" b="1" i="1" kern="100">
                        <a:effectLst/>
                        <a:latin typeface="Cambria Math" panose="02040503050406030204" pitchFamily="18" charset="0"/>
                        <a:ea typeface="Calibri" panose="020F0502020204030204" pitchFamily="34" charset="0"/>
                        <a:cs typeface="David" panose="020E0502060401010101" pitchFamily="34" charset="-79"/>
                      </a:rPr>
                      <m:t>𝐑𝐚𝐭𝐞</m:t>
                    </m:r>
                    <m:r>
                      <a:rPr lang="en-US" sz="1600" b="1" kern="100">
                        <a:effectLst/>
                        <a:latin typeface="Cambria Math" panose="02040503050406030204" pitchFamily="18" charset="0"/>
                        <a:ea typeface="Calibri" panose="020F0502020204030204" pitchFamily="34" charset="0"/>
                        <a:cs typeface="David" panose="020E0502060401010101" pitchFamily="34" charset="-79"/>
                      </a:rPr>
                      <m:t> </m:t>
                    </m:r>
                    <m:r>
                      <a:rPr lang="en-US" sz="1600" b="1" i="1" kern="100">
                        <a:effectLst/>
                        <a:latin typeface="Cambria Math" panose="02040503050406030204" pitchFamily="18" charset="0"/>
                        <a:ea typeface="Calibri" panose="020F0502020204030204" pitchFamily="34" charset="0"/>
                        <a:cs typeface="David" panose="020E0502060401010101" pitchFamily="34" charset="-79"/>
                      </a:rPr>
                      <m:t>𝐋𝐢𝐦𝐢𝐭</m:t>
                    </m:r>
                  </m:oMath>
                </a14:m>
                <a:r>
                  <a:rPr lang="en-US" sz="1600" b="1" kern="100" dirty="0">
                    <a:effectLst/>
                    <a:latin typeface="David" panose="020E0502060401010101" pitchFamily="34" charset="-79"/>
                    <a:ea typeface="Times New Roman" panose="02020603050405020304" pitchFamily="18" charset="0"/>
                    <a:cs typeface="David" panose="020E0502060401010101" pitchFamily="34" charset="-79"/>
                  </a:rPr>
                  <a:t> </a:t>
                </a:r>
                <a:r>
                  <a:rPr lang="he-IL" sz="1600" b="1" kern="100" dirty="0">
                    <a:effectLst/>
                    <a:ea typeface="Times New Roman" panose="02020603050405020304" pitchFamily="18" charset="0"/>
                    <a:cs typeface="David" panose="020E0502060401010101" pitchFamily="34" charset="-79"/>
                  </a:rPr>
                  <a:t>מבוססת על שם ממשתמש ולא על כתובת </a:t>
                </a:r>
                <a:r>
                  <a:rPr lang="en-US" sz="1600" b="1" kern="100" dirty="0">
                    <a:effectLst/>
                    <a:latin typeface="David" panose="020E0502060401010101" pitchFamily="34" charset="-79"/>
                    <a:ea typeface="Times New Roman" panose="02020603050405020304" pitchFamily="18" charset="0"/>
                    <a:cs typeface="David" panose="020E0502060401010101" pitchFamily="34" charset="-79"/>
                  </a:rPr>
                  <a:t>IP</a:t>
                </a:r>
                <a:r>
                  <a:rPr lang="he-IL" sz="1600" b="1" kern="100" dirty="0">
                    <a:effectLst/>
                    <a:ea typeface="Times New Roman" panose="02020603050405020304" pitchFamily="18" charset="0"/>
                    <a:cs typeface="David" panose="020E0502060401010101" pitchFamily="34" charset="-79"/>
                  </a:rPr>
                  <a:t>: </a:t>
                </a:r>
                <a:r>
                  <a:rPr lang="he-IL" sz="1600" kern="100" dirty="0">
                    <a:effectLst/>
                    <a:ea typeface="Times New Roman" panose="02020603050405020304" pitchFamily="18" charset="0"/>
                    <a:cs typeface="David" panose="020E0502060401010101" pitchFamily="34" charset="-79"/>
                  </a:rPr>
                  <a:t>אנחנו לא בודקים את כתובות </a:t>
                </a:r>
                <a14:m>
                  <m:oMath xmlns:m="http://schemas.openxmlformats.org/officeDocument/2006/math">
                    <m:r>
                      <m:rPr>
                        <m:sty m:val="p"/>
                      </m:rPr>
                      <a:rPr lang="en-US" sz="1600" kern="100">
                        <a:effectLst/>
                        <a:latin typeface="Cambria Math" panose="02040503050406030204" pitchFamily="18" charset="0"/>
                        <a:ea typeface="Times New Roman" panose="02020603050405020304" pitchFamily="18" charset="0"/>
                        <a:cs typeface="David" panose="020E0502060401010101" pitchFamily="34" charset="-79"/>
                      </a:rPr>
                      <m:t>IP</m:t>
                    </m:r>
                  </m:oMath>
                </a14:m>
                <a:r>
                  <a:rPr lang="he-IL" sz="1600" kern="100" dirty="0">
                    <a:effectLst/>
                    <a:ea typeface="Times New Roman" panose="02020603050405020304" pitchFamily="18" charset="0"/>
                    <a:cs typeface="David" panose="020E0502060401010101" pitchFamily="34" charset="-79"/>
                  </a:rPr>
                  <a:t> אלא רק שם משתמש, ולכן זה פחות יעיל בפני תקיפות </a:t>
                </a:r>
                <a14:m>
                  <m:oMath xmlns:m="http://schemas.openxmlformats.org/officeDocument/2006/math">
                    <m:r>
                      <m:rPr>
                        <m:sty m:val="p"/>
                      </m:rPr>
                      <a:rPr lang="en-US" sz="1600" kern="100">
                        <a:effectLst/>
                        <a:latin typeface="Cambria Math" panose="02040503050406030204" pitchFamily="18" charset="0"/>
                        <a:ea typeface="Times New Roman" panose="02020603050405020304" pitchFamily="18" charset="0"/>
                        <a:cs typeface="David" panose="020E0502060401010101" pitchFamily="34" charset="-79"/>
                      </a:rPr>
                      <m:t>PS</m:t>
                    </m:r>
                  </m:oMath>
                </a14:m>
                <a:r>
                  <a:rPr lang="he-IL" sz="1600" kern="100" dirty="0">
                    <a:effectLst/>
                    <a:ea typeface="Times New Roman" panose="02020603050405020304" pitchFamily="18"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algn="just" rtl="1">
                  <a:lnSpc>
                    <a:spcPct val="150000"/>
                  </a:lnSpc>
                  <a:spcBef>
                    <a:spcPts val="0"/>
                  </a:spcBef>
                  <a:spcAft>
                    <a:spcPts val="800"/>
                  </a:spcAft>
                  <a:buNone/>
                </a:pPr>
                <a:r>
                  <a:rPr lang="he-IL" sz="1600" b="1" kern="100" dirty="0">
                    <a:effectLst/>
                    <a:ea typeface="Calibri" panose="020F0502020204030204" pitchFamily="34" charset="0"/>
                    <a:cs typeface="David" panose="020E0502060401010101" pitchFamily="34" charset="-79"/>
                  </a:rPr>
                  <a:t>גורמים אשר היו יכולים לפגוע בדיוק של התוצאות:</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אי-סנכרון זמן עבור </a:t>
                </a:r>
                <a:r>
                  <a:rPr lang="en-US" sz="1600" b="1" kern="100" dirty="0">
                    <a:effectLst/>
                    <a:latin typeface="David" panose="020E0502060401010101" pitchFamily="34" charset="-79"/>
                    <a:ea typeface="Calibri" panose="020F0502020204030204" pitchFamily="34" charset="0"/>
                    <a:cs typeface="David" panose="020E0502060401010101" pitchFamily="34" charset="-79"/>
                  </a:rPr>
                  <a:t>TOTP</a:t>
                </a:r>
                <a:r>
                  <a:rPr lang="he-IL" sz="1600" b="1" kern="100" dirty="0">
                    <a:effectLst/>
                    <a:ea typeface="Calibri" panose="020F0502020204030204" pitchFamily="34" charset="0"/>
                    <a:cs typeface="David" panose="020E0502060401010101" pitchFamily="34" charset="-79"/>
                  </a:rPr>
                  <a:t>:</a:t>
                </a:r>
                <a:r>
                  <a:rPr lang="he-IL" sz="1600" kern="100" dirty="0">
                    <a:effectLst/>
                    <a:ea typeface="Calibri" panose="020F0502020204030204" pitchFamily="34" charset="0"/>
                    <a:cs typeface="David" panose="020E0502060401010101" pitchFamily="34" charset="-79"/>
                  </a:rPr>
                  <a:t> סטייה של שעון המחשב/זמן מערכת יכולה לגרום לכישלונות אימות גם כשיש קוד “נכון” (במיוחד ללא </a:t>
                </a:r>
                <a:r>
                  <a:rPr lang="en-US" sz="1600" kern="100" dirty="0" err="1">
                    <a:effectLst/>
                    <a:latin typeface="David" panose="020E0502060401010101" pitchFamily="34" charset="-79"/>
                    <a:ea typeface="Calibri" panose="020F0502020204030204" pitchFamily="34" charset="0"/>
                    <a:cs typeface="David" panose="020E0502060401010101" pitchFamily="34" charset="-79"/>
                  </a:rPr>
                  <a:t>valid_window</a:t>
                </a:r>
                <a:r>
                  <a:rPr lang="he-IL" sz="1600" kern="100" dirty="0">
                    <a:effectLst/>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חוסר יציבות ביצועים</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he-IL" sz="1600" kern="100" dirty="0">
                    <a:effectLst/>
                    <a:ea typeface="Calibri" panose="020F0502020204030204" pitchFamily="34" charset="0"/>
                    <a:cs typeface="David" panose="020E0502060401010101" pitchFamily="34" charset="-79"/>
                  </a:rPr>
                  <a:t>עומס ברקע</a:t>
                </a:r>
                <a:r>
                  <a:rPr lang="en-US" sz="1600" kern="100" dirty="0">
                    <a:effectLst/>
                    <a:latin typeface="David" panose="020E0502060401010101" pitchFamily="34" charset="-79"/>
                    <a:ea typeface="Calibri" panose="020F0502020204030204" pitchFamily="34" charset="0"/>
                    <a:cs typeface="David" panose="020E0502060401010101" pitchFamily="34" charset="-79"/>
                  </a:rPr>
                  <a:t>, throttling</a:t>
                </a:r>
                <a:r>
                  <a:rPr lang="he-IL" sz="1600" kern="100" dirty="0">
                    <a:effectLst/>
                    <a:ea typeface="Calibri" panose="020F0502020204030204" pitchFamily="34" charset="0"/>
                    <a:cs typeface="David" panose="020E0502060401010101" pitchFamily="34" charset="-79"/>
                  </a:rPr>
                  <a:t> של מערכת ההפעלה, השפעת </a:t>
                </a:r>
                <a:r>
                  <a:rPr lang="en-US" sz="1600" kern="100" dirty="0">
                    <a:effectLst/>
                    <a:latin typeface="David" panose="020E0502060401010101" pitchFamily="34" charset="-79"/>
                    <a:ea typeface="Calibri" panose="020F0502020204030204" pitchFamily="34" charset="0"/>
                    <a:cs typeface="David" panose="020E0502060401010101" pitchFamily="34" charset="-79"/>
                  </a:rPr>
                  <a:t>garbage collection/IO</a:t>
                </a:r>
                <a:r>
                  <a:rPr lang="he-IL" sz="1600" kern="100" dirty="0">
                    <a:effectLst/>
                    <a:ea typeface="Calibri" panose="020F0502020204030204" pitchFamily="34" charset="0"/>
                    <a:cs typeface="David" panose="020E0502060401010101" pitchFamily="34" charset="-79"/>
                  </a:rPr>
                  <a:t> על תזמונים.</a:t>
                </a:r>
                <a:endParaRPr lang="en-IL" sz="1600" kern="100" dirty="0">
                  <a:effectLst/>
                  <a:ea typeface="Calibri" panose="020F0502020204030204" pitchFamily="34" charset="0"/>
                  <a:cs typeface="David" panose="020E0502060401010101" pitchFamily="34" charset="-79"/>
                </a:endParaRPr>
              </a:p>
              <a:p>
                <a:pPr marL="342900" lvl="0" indent="-342900" algn="just" rtl="1">
                  <a:lnSpc>
                    <a:spcPct val="150000"/>
                  </a:lnSpc>
                  <a:spcBef>
                    <a:spcPts val="0"/>
                  </a:spcBef>
                  <a:spcAft>
                    <a:spcPts val="800"/>
                  </a:spcAft>
                  <a:buFont typeface="Symbol" panose="05050102010706020507" pitchFamily="18" charset="2"/>
                  <a:buChar char=""/>
                </a:pPr>
                <a:r>
                  <a:rPr lang="he-IL" sz="1600" b="1" kern="100" dirty="0">
                    <a:effectLst/>
                    <a:ea typeface="Calibri" panose="020F0502020204030204" pitchFamily="34" charset="0"/>
                    <a:cs typeface="David" panose="020E0502060401010101" pitchFamily="34" charset="-79"/>
                  </a:rPr>
                  <a:t>גרסאות ספריות שונות</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he-IL" sz="1600" kern="100" dirty="0">
                    <a:effectLst/>
                    <a:ea typeface="Calibri" panose="020F0502020204030204" pitchFamily="34" charset="0"/>
                    <a:cs typeface="David" panose="020E0502060401010101" pitchFamily="34" charset="-79"/>
                  </a:rPr>
                  <a:t>שינוי גרסאות </a:t>
                </a:r>
                <a:r>
                  <a:rPr lang="en-US" sz="1600" kern="100" dirty="0" err="1">
                    <a:effectLst/>
                    <a:latin typeface="David" panose="020E0502060401010101" pitchFamily="34" charset="-79"/>
                    <a:ea typeface="Calibri" panose="020F0502020204030204" pitchFamily="34" charset="0"/>
                    <a:cs typeface="David" panose="020E0502060401010101" pitchFamily="34" charset="-79"/>
                  </a:rPr>
                  <a:t>pyotp</a:t>
                </a:r>
                <a:r>
                  <a:rPr lang="en-US" sz="1600" kern="100" dirty="0">
                    <a:effectLst/>
                    <a:latin typeface="David" panose="020E0502060401010101" pitchFamily="34" charset="-79"/>
                    <a:ea typeface="Calibri" panose="020F0502020204030204" pitchFamily="34" charset="0"/>
                    <a:cs typeface="David" panose="020E0502060401010101" pitchFamily="34" charset="-79"/>
                  </a:rPr>
                  <a:t>, </a:t>
                </a:r>
                <a:r>
                  <a:rPr lang="en-US" sz="1600" kern="100" dirty="0" err="1">
                    <a:effectLst/>
                    <a:latin typeface="David" panose="020E0502060401010101" pitchFamily="34" charset="-79"/>
                    <a:ea typeface="Calibri" panose="020F0502020204030204" pitchFamily="34" charset="0"/>
                    <a:cs typeface="David" panose="020E0502060401010101" pitchFamily="34" charset="-79"/>
                  </a:rPr>
                  <a:t>Bcrypt</a:t>
                </a:r>
                <a:r>
                  <a:rPr lang="en-US" sz="1600" kern="100" dirty="0">
                    <a:effectLst/>
                    <a:latin typeface="David" panose="020E0502060401010101" pitchFamily="34" charset="-79"/>
                    <a:ea typeface="Calibri" panose="020F0502020204030204" pitchFamily="34" charset="0"/>
                    <a:cs typeface="David" panose="020E0502060401010101" pitchFamily="34" charset="-79"/>
                  </a:rPr>
                  <a:t>, argon2-cffi</a:t>
                </a:r>
                <a:r>
                  <a:rPr lang="he-IL" sz="1600" kern="100" dirty="0">
                    <a:effectLst/>
                    <a:ea typeface="Calibri" panose="020F0502020204030204" pitchFamily="34" charset="0"/>
                    <a:cs typeface="David" panose="020E0502060401010101" pitchFamily="34" charset="-79"/>
                  </a:rPr>
                  <a:t> יכול לשנות ביצועים</a:t>
                </a:r>
                <a:r>
                  <a:rPr lang="he-IL" sz="1600" kern="100" dirty="0">
                    <a:ea typeface="Calibri" panose="020F0502020204030204" pitchFamily="34" charset="0"/>
                    <a:cs typeface="David" panose="020E0502060401010101" pitchFamily="34" charset="-79"/>
                  </a:rPr>
                  <a:t>.</a:t>
                </a:r>
                <a:endParaRPr lang="en-IL" sz="1600" kern="100" dirty="0">
                  <a:effectLst/>
                  <a:ea typeface="Calibri" panose="020F0502020204030204" pitchFamily="34" charset="0"/>
                  <a:cs typeface="David" panose="020E0502060401010101" pitchFamily="34" charset="-79"/>
                </a:endParaRPr>
              </a:p>
            </p:txBody>
          </p:sp>
        </mc:Choice>
        <mc:Fallback xmlns="">
          <p:sp>
            <p:nvSpPr>
              <p:cNvPr id="3" name="מציין מיקום תוכן 2">
                <a:extLst>
                  <a:ext uri="{FF2B5EF4-FFF2-40B4-BE49-F238E27FC236}">
                    <a16:creationId xmlns:a16="http://schemas.microsoft.com/office/drawing/2014/main" id="{AA4E9F21-478E-06B2-69D3-767CB9395959}"/>
                  </a:ext>
                </a:extLst>
              </p:cNvPr>
              <p:cNvSpPr>
                <a:spLocks noGrp="1" noRot="1" noChangeAspect="1" noMove="1" noResize="1" noEditPoints="1" noAdjustHandles="1" noChangeArrowheads="1" noChangeShapeType="1" noTextEdit="1"/>
              </p:cNvSpPr>
              <p:nvPr>
                <p:ph idx="1"/>
              </p:nvPr>
            </p:nvSpPr>
            <p:spPr>
              <a:xfrm>
                <a:off x="408214" y="1130157"/>
                <a:ext cx="10945586" cy="5727843"/>
              </a:xfrm>
              <a:blipFill>
                <a:blip r:embed="rId2"/>
                <a:stretch>
                  <a:fillRect l="-668" r="-223"/>
                </a:stretch>
              </a:blipFill>
            </p:spPr>
            <p:txBody>
              <a:bodyPr/>
              <a:lstStyle/>
              <a:p>
                <a:r>
                  <a:rPr lang="en-IL">
                    <a:noFill/>
                  </a:rPr>
                  <a:t> </a:t>
                </a:r>
              </a:p>
            </p:txBody>
          </p:sp>
        </mc:Fallback>
      </mc:AlternateContent>
    </p:spTree>
    <p:extLst>
      <p:ext uri="{BB962C8B-B14F-4D97-AF65-F5344CB8AC3E}">
        <p14:creationId xmlns:p14="http://schemas.microsoft.com/office/powerpoint/2010/main" val="10015837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B5161-8524-213D-D3BB-0CB13ABA3C7E}"/>
              </a:ext>
            </a:extLst>
          </p:cNvPr>
          <p:cNvSpPr>
            <a:spLocks noGrp="1"/>
          </p:cNvSpPr>
          <p:nvPr>
            <p:ph type="title"/>
          </p:nvPr>
        </p:nvSpPr>
        <p:spPr/>
        <p:txBody>
          <a:bodyPr/>
          <a:lstStyle/>
          <a:p>
            <a:pPr algn="ctr"/>
            <a:r>
              <a:rPr lang="he-IL" dirty="0">
                <a:cs typeface="David" panose="020E0502060401010101" pitchFamily="34" charset="-79"/>
              </a:rPr>
              <a:t>סביבת העבודה</a:t>
            </a:r>
            <a:endParaRPr lang="en-US" dirty="0"/>
          </a:p>
        </p:txBody>
      </p:sp>
      <p:pic>
        <p:nvPicPr>
          <p:cNvPr id="5" name="Content Placeholder 4">
            <a:extLst>
              <a:ext uri="{FF2B5EF4-FFF2-40B4-BE49-F238E27FC236}">
                <a16:creationId xmlns:a16="http://schemas.microsoft.com/office/drawing/2014/main" id="{E41A24AB-6DBF-2A4F-3906-9EC97E530BDA}"/>
              </a:ext>
            </a:extLst>
          </p:cNvPr>
          <p:cNvPicPr>
            <a:picLocks noGrp="1" noChangeAspect="1"/>
          </p:cNvPicPr>
          <p:nvPr>
            <p:ph idx="1"/>
          </p:nvPr>
        </p:nvPicPr>
        <p:blipFill>
          <a:blip r:embed="rId2"/>
          <a:stretch>
            <a:fillRect/>
          </a:stretch>
        </p:blipFill>
        <p:spPr>
          <a:xfrm>
            <a:off x="2202712" y="1535479"/>
            <a:ext cx="7786576" cy="4837814"/>
          </a:xfrm>
          <a:prstGeom prst="rect">
            <a:avLst/>
          </a:prstGeom>
        </p:spPr>
      </p:pic>
    </p:spTree>
    <p:extLst>
      <p:ext uri="{BB962C8B-B14F-4D97-AF65-F5344CB8AC3E}">
        <p14:creationId xmlns:p14="http://schemas.microsoft.com/office/powerpoint/2010/main" val="365335486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A35B0D-B057-C9C2-FD6F-1421B565969B}"/>
              </a:ext>
            </a:extLst>
          </p:cNvPr>
          <p:cNvSpPr>
            <a:spLocks noGrp="1"/>
          </p:cNvSpPr>
          <p:nvPr>
            <p:ph type="title"/>
          </p:nvPr>
        </p:nvSpPr>
        <p:spPr/>
        <p:txBody>
          <a:bodyPr/>
          <a:lstStyle/>
          <a:p>
            <a:pPr algn="ctr" rtl="1"/>
            <a:r>
              <a:rPr lang="he-IL" dirty="0">
                <a:cs typeface="David" panose="020E0502060401010101" pitchFamily="34" charset="-79"/>
              </a:rPr>
              <a:t>סביבת העבודה</a:t>
            </a:r>
            <a:endParaRPr lang="en-US" dirty="0"/>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D93F174-A699-373C-60F7-B45F9C60AD5A}"/>
                  </a:ext>
                </a:extLst>
              </p:cNvPr>
              <p:cNvSpPr>
                <a:spLocks noGrp="1"/>
              </p:cNvSpPr>
              <p:nvPr>
                <p:ph idx="1"/>
              </p:nvPr>
            </p:nvSpPr>
            <p:spPr>
              <a:xfrm>
                <a:off x="838200" y="1479479"/>
                <a:ext cx="10515600" cy="4697484"/>
              </a:xfrm>
            </p:spPr>
            <p:txBody>
              <a:bodyPr>
                <a:normAutofit/>
              </a:bodyPr>
              <a:lstStyle/>
              <a:p>
                <a:pPr marL="0" indent="0" algn="r" rtl="1">
                  <a:buNone/>
                </a:pPr>
                <a:r>
                  <a:rPr lang="he-IL" sz="2000" b="1" dirty="0">
                    <a:cs typeface="David" panose="020E0502060401010101" pitchFamily="34" charset="-79"/>
                  </a:rPr>
                  <a:t>יש </a:t>
                </a:r>
                <a14:m>
                  <m:oMath xmlns:m="http://schemas.openxmlformats.org/officeDocument/2006/math">
                    <m:r>
                      <a:rPr lang="he-IL" sz="2000" b="1" i="1" dirty="0" smtClean="0">
                        <a:latin typeface="Cambria Math" panose="02040503050406030204" pitchFamily="18" charset="0"/>
                      </a:rPr>
                      <m:t>𝟒</m:t>
                    </m:r>
                  </m:oMath>
                </a14:m>
                <a:r>
                  <a:rPr lang="he-IL" sz="2000" b="1" dirty="0">
                    <a:cs typeface="David" panose="020E0502060401010101" pitchFamily="34" charset="-79"/>
                  </a:rPr>
                  <a:t> קבצי קוד עיקריים:</a:t>
                </a:r>
              </a:p>
              <a:p>
                <a:pPr lvl="1" algn="r" rtl="1"/>
                <a:r>
                  <a:rPr lang="en-US" sz="2000" dirty="0"/>
                  <a:t>server.py</a:t>
                </a:r>
                <a:r>
                  <a:rPr lang="he-IL" sz="2000" dirty="0">
                    <a:cs typeface="David" panose="020E0502060401010101" pitchFamily="34" charset="-79"/>
                  </a:rPr>
                  <a:t> כאן מימשנו את השרת הפשוט שלנו</a:t>
                </a:r>
                <a:endParaRPr lang="en-US" sz="2000" dirty="0"/>
              </a:p>
              <a:p>
                <a:pPr lvl="1" algn="r" rtl="1"/>
                <a:r>
                  <a:rPr lang="en-US" sz="2000" dirty="0"/>
                  <a:t>user.py</a:t>
                </a:r>
                <a:r>
                  <a:rPr lang="he-IL" sz="2000" dirty="0">
                    <a:cs typeface="David" panose="020E0502060401010101" pitchFamily="34" charset="-79"/>
                  </a:rPr>
                  <a:t> כאן מימשנו את הלקוח הפשוט שלנו</a:t>
                </a:r>
                <a:endParaRPr lang="en-US" sz="2000" dirty="0"/>
              </a:p>
              <a:p>
                <a:pPr lvl="1" algn="r" rtl="1"/>
                <a:r>
                  <a:rPr lang="en-US" sz="2000" dirty="0"/>
                  <a:t>attempts.py</a:t>
                </a:r>
                <a:r>
                  <a:rPr lang="he-IL" sz="2000" dirty="0">
                    <a:cs typeface="David" panose="020E0502060401010101" pitchFamily="34" charset="-79"/>
                  </a:rPr>
                  <a:t> כאן מימשנו סימולציות התקפות שונות</a:t>
                </a:r>
              </a:p>
              <a:p>
                <a:pPr lvl="1" algn="r" rtl="1"/>
                <a:r>
                  <a:rPr lang="en-US" sz="2000" dirty="0"/>
                  <a:t>MetricCollector.py</a:t>
                </a:r>
                <a:r>
                  <a:rPr lang="he-IL" sz="2000" dirty="0">
                    <a:cs typeface="David" panose="020E0502060401010101" pitchFamily="34" charset="-79"/>
                  </a:rPr>
                  <a:t> כאן מימשנו מחלקה </a:t>
                </a:r>
                <a:r>
                  <a:rPr lang="he-IL" sz="2000" dirty="0" err="1">
                    <a:cs typeface="David" panose="020E0502060401010101" pitchFamily="34" charset="-79"/>
                  </a:rPr>
                  <a:t>שתזור</a:t>
                </a:r>
                <a:r>
                  <a:rPr lang="he-IL" sz="2000" dirty="0">
                    <a:cs typeface="David" panose="020E0502060401010101" pitchFamily="34" charset="-79"/>
                  </a:rPr>
                  <a:t> לנו ביצירת הלוגים</a:t>
                </a:r>
              </a:p>
              <a:p>
                <a:pPr lvl="1" algn="r" rtl="1"/>
                <a:endParaRPr lang="he-IL" sz="2000" dirty="0">
                  <a:cs typeface="David" panose="020E0502060401010101" pitchFamily="34" charset="-79"/>
                </a:endParaRPr>
              </a:p>
              <a:p>
                <a:pPr lvl="1" algn="r" rtl="1"/>
                <a:endParaRPr lang="he-IL" sz="2000" dirty="0">
                  <a:cs typeface="David" panose="020E0502060401010101" pitchFamily="34" charset="-79"/>
                </a:endParaRPr>
              </a:p>
              <a:p>
                <a:pPr marL="0" indent="0" algn="r" rtl="1">
                  <a:buNone/>
                </a:pPr>
                <a:r>
                  <a:rPr lang="he-IL" sz="2000" dirty="0">
                    <a:cs typeface="David" panose="020E0502060401010101" pitchFamily="34" charset="-79"/>
                  </a:rPr>
                  <a:t>בקובץ ה-</a:t>
                </a:r>
                <a:r>
                  <a:rPr lang="en-US" sz="2000" dirty="0"/>
                  <a:t>config.py </a:t>
                </a:r>
                <a:endParaRPr lang="he-IL" sz="2000" dirty="0"/>
              </a:p>
              <a:p>
                <a:pPr marL="0" indent="0" algn="r" rtl="1">
                  <a:buNone/>
                </a:pPr>
                <a:r>
                  <a:rPr lang="he-IL" sz="2000" dirty="0">
                    <a:cs typeface="David" panose="020E0502060401010101" pitchFamily="34" charset="-79"/>
                  </a:rPr>
                  <a:t>אפשר לשנות </a:t>
                </a:r>
                <a:r>
                  <a:rPr lang="he-IL" sz="2000" dirty="0" err="1">
                    <a:cs typeface="David" panose="020E0502060401010101" pitchFamily="34" charset="-79"/>
                  </a:rPr>
                  <a:t>קונפיגורציות</a:t>
                </a:r>
                <a:r>
                  <a:rPr lang="he-IL" sz="2000" dirty="0">
                    <a:cs typeface="David" panose="020E0502060401010101" pitchFamily="34" charset="-79"/>
                  </a:rPr>
                  <a:t> שונות:</a:t>
                </a:r>
                <a:endParaRPr lang="en-US" sz="2000" dirty="0"/>
              </a:p>
              <a:p>
                <a:pPr marL="0" indent="0" algn="r" rtl="1">
                  <a:buNone/>
                </a:pPr>
                <a:endParaRPr lang="he-IL" sz="2000" dirty="0">
                  <a:cs typeface="David" panose="020E0502060401010101" pitchFamily="34" charset="-79"/>
                </a:endParaRPr>
              </a:p>
            </p:txBody>
          </p:sp>
        </mc:Choice>
        <mc:Fallback xmlns="">
          <p:sp>
            <p:nvSpPr>
              <p:cNvPr id="3" name="Content Placeholder 2">
                <a:extLst>
                  <a:ext uri="{FF2B5EF4-FFF2-40B4-BE49-F238E27FC236}">
                    <a16:creationId xmlns:a16="http://schemas.microsoft.com/office/drawing/2014/main" id="{CD93F174-A699-373C-60F7-B45F9C60AD5A}"/>
                  </a:ext>
                </a:extLst>
              </p:cNvPr>
              <p:cNvSpPr>
                <a:spLocks noGrp="1" noRot="1" noChangeAspect="1" noMove="1" noResize="1" noEditPoints="1" noAdjustHandles="1" noChangeArrowheads="1" noChangeShapeType="1" noTextEdit="1"/>
              </p:cNvSpPr>
              <p:nvPr>
                <p:ph idx="1"/>
              </p:nvPr>
            </p:nvSpPr>
            <p:spPr>
              <a:xfrm>
                <a:off x="838200" y="1479479"/>
                <a:ext cx="10515600" cy="4697484"/>
              </a:xfrm>
              <a:blipFill>
                <a:blip r:embed="rId2"/>
                <a:stretch>
                  <a:fillRect t="-1299" r="-580"/>
                </a:stretch>
              </a:blipFill>
            </p:spPr>
            <p:txBody>
              <a:bodyPr/>
              <a:lstStyle/>
              <a:p>
                <a:r>
                  <a:rPr lang="en-IL">
                    <a:noFill/>
                  </a:rPr>
                  <a:t> </a:t>
                </a:r>
              </a:p>
            </p:txBody>
          </p:sp>
        </mc:Fallback>
      </mc:AlternateContent>
      <p:pic>
        <p:nvPicPr>
          <p:cNvPr id="5" name="Picture 4">
            <a:extLst>
              <a:ext uri="{FF2B5EF4-FFF2-40B4-BE49-F238E27FC236}">
                <a16:creationId xmlns:a16="http://schemas.microsoft.com/office/drawing/2014/main" id="{CACB2A84-F3DE-E508-7086-221C0416F622}"/>
              </a:ext>
            </a:extLst>
          </p:cNvPr>
          <p:cNvPicPr>
            <a:picLocks noChangeAspect="1"/>
          </p:cNvPicPr>
          <p:nvPr/>
        </p:nvPicPr>
        <p:blipFill>
          <a:blip r:embed="rId3"/>
          <a:stretch>
            <a:fillRect/>
          </a:stretch>
        </p:blipFill>
        <p:spPr>
          <a:xfrm>
            <a:off x="4588267" y="3429000"/>
            <a:ext cx="3468123" cy="3233791"/>
          </a:xfrm>
          <a:prstGeom prst="rect">
            <a:avLst/>
          </a:prstGeom>
        </p:spPr>
      </p:pic>
    </p:spTree>
    <p:extLst>
      <p:ext uri="{BB962C8B-B14F-4D97-AF65-F5344CB8AC3E}">
        <p14:creationId xmlns:p14="http://schemas.microsoft.com/office/powerpoint/2010/main" val="33511388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415258-B022-8BE3-E37B-B952D81F166A}"/>
              </a:ext>
            </a:extLst>
          </p:cNvPr>
          <p:cNvSpPr>
            <a:spLocks noGrp="1"/>
          </p:cNvSpPr>
          <p:nvPr>
            <p:ph type="title"/>
          </p:nvPr>
        </p:nvSpPr>
        <p:spPr/>
        <p:txBody>
          <a:bodyPr/>
          <a:lstStyle/>
          <a:p>
            <a:pPr algn="ctr" rtl="1"/>
            <a:r>
              <a:rPr lang="he-IL" dirty="0">
                <a:cs typeface="David" panose="020E0502060401010101" pitchFamily="34" charset="-79"/>
              </a:rPr>
              <a:t>שחזור ניסוי</a:t>
            </a:r>
            <a:endParaRPr lang="en-US" dirty="0"/>
          </a:p>
        </p:txBody>
      </p:sp>
      <p:sp>
        <p:nvSpPr>
          <p:cNvPr id="3" name="Content Placeholder 2">
            <a:extLst>
              <a:ext uri="{FF2B5EF4-FFF2-40B4-BE49-F238E27FC236}">
                <a16:creationId xmlns:a16="http://schemas.microsoft.com/office/drawing/2014/main" id="{C901CAEA-8DB4-9800-D53E-AFA6F06CB1F6}"/>
              </a:ext>
            </a:extLst>
          </p:cNvPr>
          <p:cNvSpPr>
            <a:spLocks noGrp="1"/>
          </p:cNvSpPr>
          <p:nvPr>
            <p:ph idx="1"/>
          </p:nvPr>
        </p:nvSpPr>
        <p:spPr/>
        <p:txBody>
          <a:bodyPr>
            <a:normAutofit/>
          </a:bodyPr>
          <a:lstStyle/>
          <a:p>
            <a:pPr algn="r" rtl="1"/>
            <a:r>
              <a:rPr lang="he-IL" sz="2000" dirty="0">
                <a:cs typeface="David" panose="020E0502060401010101" pitchFamily="34" charset="-79"/>
              </a:rPr>
              <a:t>נצטרך קודם להוריד את כל הספריות הנדרשות, ואז נריץ הפקודות הבאות מהקובץ </a:t>
            </a:r>
            <a:r>
              <a:rPr lang="en-US" sz="2000" dirty="0">
                <a:cs typeface="David" panose="020E0502060401010101" pitchFamily="34" charset="-79"/>
              </a:rPr>
              <a:t>attempts.py</a:t>
            </a:r>
            <a:r>
              <a:rPr lang="he-IL" sz="2000" dirty="0">
                <a:cs typeface="David" panose="020E0502060401010101" pitchFamily="34" charset="-79"/>
              </a:rPr>
              <a:t>:</a:t>
            </a:r>
          </a:p>
          <a:p>
            <a:pPr marL="514350" indent="-514350">
              <a:buFont typeface="+mj-lt"/>
              <a:buAutoNum type="arabicPeriod"/>
            </a:pPr>
            <a:r>
              <a:rPr lang="en-US" sz="2000" dirty="0">
                <a:cs typeface="David" panose="020E0502060401010101" pitchFamily="34" charset="-79"/>
              </a:rPr>
              <a:t>a = Attempt(captcha=True)</a:t>
            </a:r>
          </a:p>
          <a:p>
            <a:pPr marL="514350" indent="-514350">
              <a:buFont typeface="+mj-lt"/>
              <a:buAutoNum type="arabicPeriod"/>
            </a:pPr>
            <a:r>
              <a:rPr lang="en-US" sz="2000" dirty="0" err="1">
                <a:cs typeface="David" panose="020E0502060401010101" pitchFamily="34" charset="-79"/>
              </a:rPr>
              <a:t>a.password_spraying</a:t>
            </a:r>
            <a:r>
              <a:rPr lang="en-US" sz="2000" dirty="0">
                <a:cs typeface="David" panose="020E0502060401010101" pitchFamily="34" charset="-79"/>
              </a:rPr>
              <a:t>() # for example</a:t>
            </a:r>
          </a:p>
          <a:p>
            <a:pPr marL="514350" indent="-514350">
              <a:buFont typeface="+mj-lt"/>
              <a:buAutoNum type="arabicPeriod"/>
            </a:pPr>
            <a:r>
              <a:rPr lang="en-US" sz="2000" dirty="0" err="1">
                <a:cs typeface="David" panose="020E0502060401010101" pitchFamily="34" charset="-79"/>
              </a:rPr>
              <a:t>a.add_stats</a:t>
            </a:r>
            <a:r>
              <a:rPr lang="en-US" sz="2000" dirty="0">
                <a:cs typeface="David" panose="020E0502060401010101" pitchFamily="34" charset="-79"/>
              </a:rPr>
              <a:t>()</a:t>
            </a:r>
          </a:p>
          <a:p>
            <a:pPr marL="0" indent="0" algn="r" rtl="1">
              <a:buNone/>
            </a:pPr>
            <a:r>
              <a:rPr lang="he-IL" sz="2000" dirty="0">
                <a:cs typeface="David" panose="020E0502060401010101" pitchFamily="34" charset="-79"/>
              </a:rPr>
              <a:t>כך למשל ניתן להריץ תקיפת </a:t>
            </a:r>
            <a:r>
              <a:rPr lang="en-US" sz="2000" dirty="0">
                <a:cs typeface="David" panose="020E0502060401010101" pitchFamily="34" charset="-79"/>
              </a:rPr>
              <a:t>PS</a:t>
            </a:r>
            <a:r>
              <a:rPr lang="he-IL" sz="2000" dirty="0">
                <a:cs typeface="David" panose="020E0502060401010101" pitchFamily="34" charset="-79"/>
              </a:rPr>
              <a:t> עם </a:t>
            </a:r>
            <a:r>
              <a:rPr lang="en-US" sz="2000" dirty="0">
                <a:cs typeface="David" panose="020E0502060401010101" pitchFamily="34" charset="-79"/>
              </a:rPr>
              <a:t>CAPTCHA</a:t>
            </a:r>
            <a:r>
              <a:rPr lang="he-IL" sz="2000" dirty="0">
                <a:cs typeface="David" panose="020E0502060401010101" pitchFamily="34" charset="-79"/>
              </a:rPr>
              <a:t>.</a:t>
            </a:r>
          </a:p>
          <a:p>
            <a:pPr marL="0" indent="0" algn="r" rtl="1">
              <a:buNone/>
            </a:pPr>
            <a:endParaRPr lang="he-IL" sz="2000" dirty="0">
              <a:cs typeface="David" panose="020E0502060401010101" pitchFamily="34" charset="-79"/>
            </a:endParaRPr>
          </a:p>
          <a:p>
            <a:pPr algn="just" rtl="1"/>
            <a:r>
              <a:rPr lang="he-IL" sz="2000" dirty="0">
                <a:cs typeface="David" panose="020E0502060401010101" pitchFamily="34" charset="-79"/>
              </a:rPr>
              <a:t>אם במקום נרצה להריץ</a:t>
            </a:r>
            <a:r>
              <a:rPr lang="en-US" sz="2000" dirty="0">
                <a:cs typeface="David" panose="020E0502060401010101" pitchFamily="34" charset="-79"/>
              </a:rPr>
              <a:t>BF</a:t>
            </a:r>
            <a:r>
              <a:rPr lang="he-IL" sz="2000" dirty="0">
                <a:cs typeface="David" panose="020E0502060401010101" pitchFamily="34" charset="-79"/>
              </a:rPr>
              <a:t> אז צריכים לבחור משתמש כלשהו מרשימת המשתמשים </a:t>
            </a:r>
            <a:r>
              <a:rPr lang="en-US" sz="2000" dirty="0" err="1">
                <a:cs typeface="David" panose="020E0502060401010101" pitchFamily="34" charset="-79"/>
              </a:rPr>
              <a:t>users.json</a:t>
            </a:r>
            <a:r>
              <a:rPr lang="he-IL" sz="2000" dirty="0">
                <a:cs typeface="David" panose="020E0502060401010101" pitchFamily="34" charset="-79"/>
              </a:rPr>
              <a:t> ואז להריץ:</a:t>
            </a:r>
          </a:p>
          <a:p>
            <a:pPr marL="514350" indent="-514350" algn="just">
              <a:buFont typeface="+mj-lt"/>
              <a:buAutoNum type="arabicPeriod"/>
            </a:pPr>
            <a:r>
              <a:rPr lang="en-US" sz="2000" dirty="0">
                <a:cs typeface="David" panose="020E0502060401010101" pitchFamily="34" charset="-79"/>
              </a:rPr>
              <a:t>a = Attempt(captcha=True)</a:t>
            </a:r>
          </a:p>
          <a:p>
            <a:pPr marL="514350" indent="-514350" algn="just">
              <a:buFont typeface="+mj-lt"/>
              <a:buAutoNum type="arabicPeriod"/>
            </a:pPr>
            <a:r>
              <a:rPr lang="en-US" sz="2000" dirty="0" err="1">
                <a:cs typeface="David" panose="020E0502060401010101" pitchFamily="34" charset="-79"/>
              </a:rPr>
              <a:t>a.brute_force</a:t>
            </a:r>
            <a:r>
              <a:rPr lang="en-US" sz="2000" dirty="0">
                <a:cs typeface="David" panose="020E0502060401010101" pitchFamily="34" charset="-79"/>
              </a:rPr>
              <a:t>(“</a:t>
            </a:r>
            <a:r>
              <a:rPr lang="en-US" sz="2000" dirty="0" err="1">
                <a:cs typeface="David" panose="020E0502060401010101" pitchFamily="34" charset="-79"/>
              </a:rPr>
              <a:t>taylor</a:t>
            </a:r>
            <a:r>
              <a:rPr lang="en-US" sz="2000" dirty="0">
                <a:cs typeface="David" panose="020E0502060401010101" pitchFamily="34" charset="-79"/>
              </a:rPr>
              <a:t>”) # for example</a:t>
            </a:r>
          </a:p>
          <a:p>
            <a:pPr marL="514350" indent="-514350" algn="just">
              <a:buFont typeface="+mj-lt"/>
              <a:buAutoNum type="arabicPeriod"/>
            </a:pPr>
            <a:r>
              <a:rPr lang="en-US" sz="2000" dirty="0" err="1">
                <a:cs typeface="David" panose="020E0502060401010101" pitchFamily="34" charset="-79"/>
              </a:rPr>
              <a:t>a.add_stats</a:t>
            </a:r>
            <a:r>
              <a:rPr lang="en-US" sz="2000" dirty="0">
                <a:cs typeface="David" panose="020E0502060401010101" pitchFamily="34" charset="-79"/>
              </a:rPr>
              <a:t>()</a:t>
            </a:r>
          </a:p>
          <a:p>
            <a:pPr marL="514350" indent="-514350" algn="just">
              <a:buFont typeface="+mj-lt"/>
              <a:buAutoNum type="arabicPeriod"/>
            </a:pPr>
            <a:endParaRPr lang="en-US" sz="2000" dirty="0">
              <a:cs typeface="David" panose="020E0502060401010101" pitchFamily="34" charset="-79"/>
            </a:endParaRPr>
          </a:p>
          <a:p>
            <a:pPr marL="0" indent="0" algn="r" rtl="1">
              <a:buNone/>
            </a:pPr>
            <a:endParaRPr lang="he-IL" sz="2000" dirty="0">
              <a:cs typeface="David" panose="020E0502060401010101" pitchFamily="34" charset="-79"/>
            </a:endParaRPr>
          </a:p>
          <a:p>
            <a:pPr marL="0" indent="0" algn="r" rtl="1">
              <a:buNone/>
            </a:pPr>
            <a:endParaRPr lang="en-US" sz="2000" dirty="0">
              <a:cs typeface="David" panose="020E0502060401010101" pitchFamily="34" charset="-79"/>
            </a:endParaRPr>
          </a:p>
        </p:txBody>
      </p:sp>
    </p:spTree>
    <p:extLst>
      <p:ext uri="{BB962C8B-B14F-4D97-AF65-F5344CB8AC3E}">
        <p14:creationId xmlns:p14="http://schemas.microsoft.com/office/powerpoint/2010/main" val="19270443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5E3C1-2383-283A-8FD8-CE085CA16A24}"/>
              </a:ext>
            </a:extLst>
          </p:cNvPr>
          <p:cNvSpPr>
            <a:spLocks noGrp="1"/>
          </p:cNvSpPr>
          <p:nvPr>
            <p:ph type="title"/>
          </p:nvPr>
        </p:nvSpPr>
        <p:spPr/>
        <p:txBody>
          <a:bodyPr/>
          <a:lstStyle/>
          <a:p>
            <a:pPr algn="ctr"/>
            <a:r>
              <a:rPr lang="he-IL" dirty="0">
                <a:cs typeface="David" panose="020E0502060401010101" pitchFamily="34" charset="-79"/>
              </a:rPr>
              <a:t>שחזור ניסוי</a:t>
            </a:r>
            <a:endParaRPr lang="en-US" dirty="0"/>
          </a:p>
        </p:txBody>
      </p:sp>
      <p:sp>
        <p:nvSpPr>
          <p:cNvPr id="3" name="Content Placeholder 2">
            <a:extLst>
              <a:ext uri="{FF2B5EF4-FFF2-40B4-BE49-F238E27FC236}">
                <a16:creationId xmlns:a16="http://schemas.microsoft.com/office/drawing/2014/main" id="{94A72D9E-81B4-53C3-50B7-3560FDCBEB68}"/>
              </a:ext>
            </a:extLst>
          </p:cNvPr>
          <p:cNvSpPr>
            <a:spLocks noGrp="1"/>
          </p:cNvSpPr>
          <p:nvPr>
            <p:ph idx="1"/>
          </p:nvPr>
        </p:nvSpPr>
        <p:spPr>
          <a:xfrm>
            <a:off x="838200" y="1690688"/>
            <a:ext cx="10515600" cy="4503923"/>
          </a:xfrm>
        </p:spPr>
        <p:txBody>
          <a:bodyPr>
            <a:noAutofit/>
          </a:bodyPr>
          <a:lstStyle/>
          <a:p>
            <a:pPr algn="just" rtl="1"/>
            <a:r>
              <a:rPr lang="he-IL" sz="2000" dirty="0">
                <a:cs typeface="David" panose="020E0502060401010101" pitchFamily="34" charset="-79"/>
              </a:rPr>
              <a:t>אם נרצה להוסיף שיטת גיבוב אז נוסיף אחד מהבאים:</a:t>
            </a:r>
          </a:p>
          <a:p>
            <a:pPr algn="just"/>
            <a:r>
              <a:rPr lang="en-US" sz="2000" dirty="0"/>
              <a:t>argon2_hash=True</a:t>
            </a:r>
          </a:p>
          <a:p>
            <a:pPr algn="just"/>
            <a:r>
              <a:rPr lang="en-US" sz="2000" dirty="0" err="1"/>
              <a:t>bcrypt_hash</a:t>
            </a:r>
            <a:r>
              <a:rPr lang="he-IL" sz="2000" dirty="0">
                <a:cs typeface="David" panose="020E0502060401010101" pitchFamily="34" charset="-79"/>
              </a:rPr>
              <a:t>=</a:t>
            </a:r>
            <a:r>
              <a:rPr lang="en-US" sz="2000" dirty="0"/>
              <a:t>True</a:t>
            </a:r>
          </a:p>
          <a:p>
            <a:pPr algn="just"/>
            <a:r>
              <a:rPr lang="en-US" sz="2000" dirty="0"/>
              <a:t>sha256_salt=True </a:t>
            </a:r>
          </a:p>
          <a:p>
            <a:pPr algn="just" rtl="1"/>
            <a:r>
              <a:rPr lang="he-IL" sz="2000" dirty="0">
                <a:cs typeface="David" panose="020E0502060401010101" pitchFamily="34" charset="-79"/>
              </a:rPr>
              <a:t>אם בנוסף רוצים </a:t>
            </a:r>
            <a:r>
              <a:rPr lang="en-US" sz="2000" dirty="0"/>
              <a:t>PEPPER</a:t>
            </a:r>
            <a:r>
              <a:rPr lang="he-IL" sz="2000" dirty="0">
                <a:cs typeface="David" panose="020E0502060401010101" pitchFamily="34" charset="-79"/>
              </a:rPr>
              <a:t> אז מוסיפים:</a:t>
            </a:r>
          </a:p>
          <a:p>
            <a:pPr algn="just"/>
            <a:r>
              <a:rPr lang="en-US" sz="2000" dirty="0"/>
              <a:t>pepper=True</a:t>
            </a:r>
          </a:p>
          <a:p>
            <a:pPr algn="just" rtl="1"/>
            <a:r>
              <a:rPr lang="he-IL" sz="2000" dirty="0">
                <a:cs typeface="David" panose="020E0502060401010101" pitchFamily="34" charset="-79"/>
              </a:rPr>
              <a:t>פרמטרים אלה מוסיפים כאשר מאתחלים ניסוי.</a:t>
            </a:r>
            <a:endParaRPr lang="en-US" sz="2000" dirty="0">
              <a:cs typeface="David" panose="020E0502060401010101" pitchFamily="34" charset="-79"/>
            </a:endParaRPr>
          </a:p>
          <a:p>
            <a:pPr algn="just" rtl="1"/>
            <a:r>
              <a:rPr lang="he-IL" sz="2000" dirty="0">
                <a:cs typeface="David" panose="020E0502060401010101" pitchFamily="34" charset="-79"/>
              </a:rPr>
              <a:t>למשל</a:t>
            </a:r>
            <a:r>
              <a:rPr lang="en-US" sz="2000" dirty="0">
                <a:cs typeface="David" panose="020E0502060401010101" pitchFamily="34" charset="-79"/>
              </a:rPr>
              <a:t> </a:t>
            </a:r>
            <a:r>
              <a:rPr lang="he-IL" sz="2000" dirty="0">
                <a:cs typeface="David" panose="020E0502060401010101" pitchFamily="34" charset="-79"/>
              </a:rPr>
              <a:t>אם רוצים </a:t>
            </a:r>
            <a:r>
              <a:rPr lang="en-US" sz="2000" dirty="0"/>
              <a:t>argon</a:t>
            </a:r>
            <a:r>
              <a:rPr lang="he-IL" sz="2000" dirty="0">
                <a:cs typeface="David" panose="020E0502060401010101" pitchFamily="34" charset="-79"/>
              </a:rPr>
              <a:t> עם </a:t>
            </a:r>
            <a:r>
              <a:rPr lang="en-US" sz="2000" dirty="0"/>
              <a:t>PEPPER</a:t>
            </a:r>
            <a:r>
              <a:rPr lang="he-IL" sz="2000" dirty="0">
                <a:cs typeface="David" panose="020E0502060401010101" pitchFamily="34" charset="-79"/>
              </a:rPr>
              <a:t> עם </a:t>
            </a:r>
            <a:r>
              <a:rPr lang="en-US" sz="2000" dirty="0"/>
              <a:t>lockout</a:t>
            </a:r>
            <a:r>
              <a:rPr lang="he-IL" sz="2000" dirty="0">
                <a:cs typeface="David" panose="020E0502060401010101" pitchFamily="34" charset="-79"/>
              </a:rPr>
              <a:t> נריץ:</a:t>
            </a:r>
          </a:p>
          <a:p>
            <a:pPr marL="514350" indent="-514350" algn="just">
              <a:buFont typeface="+mj-lt"/>
              <a:buAutoNum type="arabicPeriod"/>
            </a:pPr>
            <a:r>
              <a:rPr lang="en-US" sz="2000" dirty="0"/>
              <a:t>a = Attempt(argon2_hash=True, pepper</a:t>
            </a:r>
            <a:r>
              <a:rPr lang="he-IL" sz="2000" dirty="0">
                <a:cs typeface="David" panose="020E0502060401010101" pitchFamily="34" charset="-79"/>
              </a:rPr>
              <a:t>=</a:t>
            </a:r>
            <a:r>
              <a:rPr lang="en-US" sz="2000" dirty="0"/>
              <a:t>True, lockout=True)</a:t>
            </a:r>
          </a:p>
          <a:p>
            <a:pPr marL="514350" indent="-514350" algn="just">
              <a:buFont typeface="+mj-lt"/>
              <a:buAutoNum type="arabicPeriod"/>
            </a:pPr>
            <a:r>
              <a:rPr lang="en-US" sz="2000" dirty="0" err="1"/>
              <a:t>a.brute_force</a:t>
            </a:r>
            <a:r>
              <a:rPr lang="en-US" sz="2000" dirty="0"/>
              <a:t>("</a:t>
            </a:r>
            <a:r>
              <a:rPr lang="en-US" sz="2000" dirty="0" err="1"/>
              <a:t>taylor</a:t>
            </a:r>
            <a:r>
              <a:rPr lang="en-US" sz="2000" dirty="0"/>
              <a:t>") # </a:t>
            </a:r>
            <a:r>
              <a:rPr lang="en-US" sz="2000" dirty="0" err="1"/>
              <a:t>a.brute_force</a:t>
            </a:r>
            <a:r>
              <a:rPr lang="en-US" sz="2000" dirty="0"/>
              <a:t>("max") # Medium password</a:t>
            </a:r>
            <a:endParaRPr lang="he-IL" sz="2000" dirty="0">
              <a:cs typeface="David" panose="020E0502060401010101" pitchFamily="34" charset="-79"/>
            </a:endParaRPr>
          </a:p>
          <a:p>
            <a:pPr marL="514350" indent="-514350" algn="just">
              <a:buFont typeface="+mj-lt"/>
              <a:buAutoNum type="arabicPeriod"/>
            </a:pPr>
            <a:r>
              <a:rPr lang="en-US" sz="2000" dirty="0" err="1"/>
              <a:t>a.add_stats</a:t>
            </a:r>
            <a:r>
              <a:rPr lang="en-US" sz="2000" dirty="0"/>
              <a:t>()</a:t>
            </a:r>
          </a:p>
          <a:p>
            <a:pPr lvl="1" algn="just" rtl="1"/>
            <a:endParaRPr lang="en-US" sz="2000" dirty="0"/>
          </a:p>
          <a:p>
            <a:pPr algn="just"/>
            <a:endParaRPr lang="en-US" sz="2000" dirty="0"/>
          </a:p>
        </p:txBody>
      </p:sp>
    </p:spTree>
    <p:extLst>
      <p:ext uri="{BB962C8B-B14F-4D97-AF65-F5344CB8AC3E}">
        <p14:creationId xmlns:p14="http://schemas.microsoft.com/office/powerpoint/2010/main" val="194094751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DDF299-6D3C-96E4-8D86-E79D7BC99169}"/>
              </a:ext>
            </a:extLst>
          </p:cNvPr>
          <p:cNvSpPr>
            <a:spLocks noGrp="1"/>
          </p:cNvSpPr>
          <p:nvPr>
            <p:ph type="title"/>
          </p:nvPr>
        </p:nvSpPr>
        <p:spPr>
          <a:xfrm>
            <a:off x="838200" y="365126"/>
            <a:ext cx="10515600" cy="610920"/>
          </a:xfrm>
        </p:spPr>
        <p:txBody>
          <a:bodyPr>
            <a:noAutofit/>
          </a:bodyPr>
          <a:lstStyle/>
          <a:p>
            <a:pPr algn="ctr" rtl="1"/>
            <a:r>
              <a:rPr lang="he-IL" sz="2600" b="1" dirty="0">
                <a:cs typeface="David" panose="020E0502060401010101" pitchFamily="34" charset="-79"/>
              </a:rPr>
              <a:t>שיטות גיבוב</a:t>
            </a:r>
            <a:endParaRPr lang="en-US" sz="2600" b="1" dirty="0"/>
          </a:p>
        </p:txBody>
      </p:sp>
      <p:sp>
        <p:nvSpPr>
          <p:cNvPr id="3" name="Content Placeholder 2">
            <a:extLst>
              <a:ext uri="{FF2B5EF4-FFF2-40B4-BE49-F238E27FC236}">
                <a16:creationId xmlns:a16="http://schemas.microsoft.com/office/drawing/2014/main" id="{E6BEB1AC-FC80-526D-A0BC-F6E924504BAA}"/>
              </a:ext>
            </a:extLst>
          </p:cNvPr>
          <p:cNvSpPr>
            <a:spLocks noGrp="1"/>
          </p:cNvSpPr>
          <p:nvPr>
            <p:ph idx="1"/>
          </p:nvPr>
        </p:nvSpPr>
        <p:spPr>
          <a:xfrm>
            <a:off x="838200" y="942048"/>
            <a:ext cx="10515600" cy="2078555"/>
          </a:xfrm>
        </p:spPr>
        <p:txBody>
          <a:bodyPr>
            <a:normAutofit/>
          </a:bodyPr>
          <a:lstStyle/>
          <a:p>
            <a:pPr algn="r" rtl="1"/>
            <a:r>
              <a:rPr lang="he-IL" sz="1800" dirty="0">
                <a:cs typeface="David" panose="020E0502060401010101" pitchFamily="34" charset="-79"/>
              </a:rPr>
              <a:t>בנוסף, אם למשל בחרנו בשיטת הגיבוב - </a:t>
            </a:r>
            <a:r>
              <a:rPr lang="en-US" sz="1800" dirty="0"/>
              <a:t>sha256_salt</a:t>
            </a:r>
            <a:r>
              <a:rPr lang="he-IL" sz="1800" dirty="0">
                <a:cs typeface="David" panose="020E0502060401010101" pitchFamily="34" charset="-79"/>
              </a:rPr>
              <a:t> אז </a:t>
            </a:r>
            <a:r>
              <a:rPr lang="he-IL" sz="1800" dirty="0" err="1">
                <a:cs typeface="David" panose="020E0502060401010101" pitchFamily="34" charset="-79"/>
              </a:rPr>
              <a:t>יווצר</a:t>
            </a:r>
            <a:r>
              <a:rPr lang="he-IL" sz="1800" dirty="0">
                <a:cs typeface="David" panose="020E0502060401010101" pitchFamily="34" charset="-79"/>
              </a:rPr>
              <a:t> קובץ של </a:t>
            </a:r>
            <a:r>
              <a:rPr lang="en-US" sz="1800" dirty="0" err="1"/>
              <a:t>hashed_passwords.json</a:t>
            </a:r>
            <a:r>
              <a:rPr lang="he-IL" sz="1800" dirty="0">
                <a:cs typeface="David" panose="020E0502060401010101" pitchFamily="34" charset="-79"/>
              </a:rPr>
              <a:t>. בו ניתן לראות את המידע </a:t>
            </a:r>
            <a:r>
              <a:rPr lang="he-IL" sz="1800" dirty="0" err="1">
                <a:cs typeface="David" panose="020E0502060401010101" pitchFamily="34" charset="-79"/>
              </a:rPr>
              <a:t>השמוש</a:t>
            </a:r>
            <a:r>
              <a:rPr lang="he-IL" sz="1800" dirty="0">
                <a:cs typeface="David" panose="020E0502060401010101" pitchFamily="34" charset="-79"/>
              </a:rPr>
              <a:t> לכל שיטה וגם הסיסמאות אחרי גיבוב:</a:t>
            </a:r>
          </a:p>
          <a:p>
            <a:pPr algn="r" rtl="1"/>
            <a:endParaRPr lang="he-IL" sz="1800" dirty="0">
              <a:cs typeface="David" panose="020E0502060401010101" pitchFamily="34" charset="-79"/>
            </a:endParaRPr>
          </a:p>
        </p:txBody>
      </p:sp>
      <p:pic>
        <p:nvPicPr>
          <p:cNvPr id="7" name="Picture 6">
            <a:extLst>
              <a:ext uri="{FF2B5EF4-FFF2-40B4-BE49-F238E27FC236}">
                <a16:creationId xmlns:a16="http://schemas.microsoft.com/office/drawing/2014/main" id="{D0E92A37-C041-63A3-A122-A88F547B271B}"/>
              </a:ext>
            </a:extLst>
          </p:cNvPr>
          <p:cNvPicPr>
            <a:picLocks noChangeAspect="1"/>
          </p:cNvPicPr>
          <p:nvPr/>
        </p:nvPicPr>
        <p:blipFill>
          <a:blip r:embed="rId2"/>
          <a:stretch>
            <a:fillRect/>
          </a:stretch>
        </p:blipFill>
        <p:spPr>
          <a:xfrm>
            <a:off x="1416353" y="1620752"/>
            <a:ext cx="9359294" cy="1243031"/>
          </a:xfrm>
          <a:prstGeom prst="rect">
            <a:avLst/>
          </a:prstGeom>
        </p:spPr>
      </p:pic>
      <p:sp>
        <p:nvSpPr>
          <p:cNvPr id="4" name="Title 1">
            <a:extLst>
              <a:ext uri="{FF2B5EF4-FFF2-40B4-BE49-F238E27FC236}">
                <a16:creationId xmlns:a16="http://schemas.microsoft.com/office/drawing/2014/main" id="{7607D137-2862-B5B6-2C0D-C99CB42E90FB}"/>
              </a:ext>
            </a:extLst>
          </p:cNvPr>
          <p:cNvSpPr txBox="1">
            <a:spLocks/>
          </p:cNvSpPr>
          <p:nvPr/>
        </p:nvSpPr>
        <p:spPr>
          <a:xfrm>
            <a:off x="838199" y="3187841"/>
            <a:ext cx="10515600" cy="437241"/>
          </a:xfrm>
          <a:prstGeom prst="rect">
            <a:avLst/>
          </a:prstGeom>
        </p:spPr>
        <p:txBody>
          <a:bodyPr vert="horz" lIns="91440" tIns="45720" rIns="91440" bIns="45720" rtlCol="0" anchor="ctr">
            <a:normAutofit fontScale="60000" lnSpcReduction="20000"/>
          </a:bodyPr>
          <a:lstStyle>
            <a:lvl1pPr algn="l" defTabSz="914400" rtl="0" eaLnBrk="1" latinLnBrk="0" hangingPunct="1">
              <a:lnSpc>
                <a:spcPct val="90000"/>
              </a:lnSpc>
              <a:spcBef>
                <a:spcPct val="0"/>
              </a:spcBef>
              <a:buNone/>
              <a:defRPr sz="4400" kern="1200">
                <a:solidFill>
                  <a:schemeClr val="tx1"/>
                </a:solidFill>
                <a:latin typeface="David" panose="020E0502060401010101" pitchFamily="34" charset="-79"/>
                <a:ea typeface="+mj-ea"/>
                <a:cs typeface="+mj-cs"/>
              </a:defRPr>
            </a:lvl1pPr>
          </a:lstStyle>
          <a:p>
            <a:pPr algn="ctr"/>
            <a:r>
              <a:rPr lang="he-IL" b="1" dirty="0">
                <a:cs typeface="David" panose="020E0502060401010101" pitchFamily="34" charset="-79"/>
              </a:rPr>
              <a:t>יצירת ובדיקת לוגים</a:t>
            </a:r>
            <a:endParaRPr lang="en-US" b="1" dirty="0"/>
          </a:p>
        </p:txBody>
      </p:sp>
      <p:sp>
        <p:nvSpPr>
          <p:cNvPr id="5" name="Content Placeholder 2">
            <a:extLst>
              <a:ext uri="{FF2B5EF4-FFF2-40B4-BE49-F238E27FC236}">
                <a16:creationId xmlns:a16="http://schemas.microsoft.com/office/drawing/2014/main" id="{9D107FB2-78C6-5DE2-16EB-58399467DC25}"/>
              </a:ext>
            </a:extLst>
          </p:cNvPr>
          <p:cNvSpPr txBox="1">
            <a:spLocks/>
          </p:cNvSpPr>
          <p:nvPr/>
        </p:nvSpPr>
        <p:spPr>
          <a:xfrm>
            <a:off x="838199" y="3700659"/>
            <a:ext cx="10515600" cy="315734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David" panose="020E0502060401010101" pitchFamily="34" charset="-79"/>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David" panose="020E0502060401010101" pitchFamily="34" charset="-79"/>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David" panose="020E0502060401010101" pitchFamily="34" charset="-79"/>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David" panose="020E0502060401010101" pitchFamily="34" charset="-79"/>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just" rtl="1"/>
            <a:r>
              <a:rPr lang="he-IL" sz="1800" dirty="0">
                <a:cs typeface="David" panose="020E0502060401010101" pitchFamily="34" charset="-79"/>
              </a:rPr>
              <a:t>בסוף הריצה נקבל שני לוגים</a:t>
            </a:r>
            <a:r>
              <a:rPr lang="en-US" sz="1800" dirty="0"/>
              <a:t>:</a:t>
            </a:r>
          </a:p>
          <a:p>
            <a:pPr lvl="1" algn="just" rtl="1"/>
            <a:r>
              <a:rPr lang="en-US" sz="1800" dirty="0"/>
              <a:t>attempts.log</a:t>
            </a:r>
            <a:r>
              <a:rPr lang="he-IL" sz="1800" dirty="0">
                <a:cs typeface="David" panose="020E0502060401010101" pitchFamily="34" charset="-79"/>
              </a:rPr>
              <a:t> - לוג פשוט שגם מודפס תוך כדי ריצה לערוץ ה- </a:t>
            </a:r>
            <a:r>
              <a:rPr lang="en-US" sz="1800" dirty="0"/>
              <a:t>OUTPUT</a:t>
            </a:r>
            <a:r>
              <a:rPr lang="he-IL" sz="1800" dirty="0">
                <a:cs typeface="David" panose="020E0502060401010101" pitchFamily="34" charset="-79"/>
              </a:rPr>
              <a:t> ובסוף גם מראה סיכום של הניסוי:</a:t>
            </a:r>
          </a:p>
          <a:p>
            <a:pPr marL="457200" lvl="1" indent="0" algn="just" rtl="1">
              <a:buFont typeface="Arial" panose="020B0604020202020204" pitchFamily="34" charset="0"/>
              <a:buNone/>
            </a:pPr>
            <a:br>
              <a:rPr lang="en-US" sz="1800" dirty="0"/>
            </a:br>
            <a:endParaRPr lang="he-IL" sz="1800" dirty="0">
              <a:cs typeface="David" panose="020E0502060401010101" pitchFamily="34" charset="-79"/>
            </a:endParaRPr>
          </a:p>
          <a:p>
            <a:pPr marL="457200" lvl="1" indent="0" algn="just" rtl="1">
              <a:buFont typeface="Arial" panose="020B0604020202020204" pitchFamily="34" charset="0"/>
              <a:buNone/>
            </a:pPr>
            <a:endParaRPr lang="en-US" sz="1800" dirty="0"/>
          </a:p>
          <a:p>
            <a:pPr marL="457200" lvl="1" indent="0" algn="just" rtl="1">
              <a:buFont typeface="Arial" panose="020B0604020202020204" pitchFamily="34" charset="0"/>
              <a:buNone/>
            </a:pPr>
            <a:endParaRPr lang="en-US" sz="1800" dirty="0"/>
          </a:p>
          <a:p>
            <a:pPr lvl="1" algn="just" rtl="1"/>
            <a:r>
              <a:rPr lang="en-US" sz="1800" dirty="0"/>
              <a:t>attempts.csv</a:t>
            </a:r>
            <a:r>
              <a:rPr lang="he-IL" sz="1800" dirty="0">
                <a:cs typeface="David" panose="020E0502060401010101" pitchFamily="34" charset="-79"/>
              </a:rPr>
              <a:t> - לוג יותר אינפורמטיבי המכיל מידע סטטיסטי, כאן אפשר לראות באופן מסודר הזמן, המשתמש, מצב הגיבוב (אם יש), ושיטות ההגנה בהם משתמשים. בנוסף ניתן לראות את התוצאה של כל ניסיון התחברות, וכמה זמן לקח במילישניות.</a:t>
            </a:r>
            <a:endParaRPr lang="en-US" sz="1800" dirty="0">
              <a:cs typeface="David" panose="020E0502060401010101" pitchFamily="34" charset="-79"/>
            </a:endParaRPr>
          </a:p>
          <a:p>
            <a:pPr lvl="1" algn="just" rtl="1"/>
            <a:r>
              <a:rPr lang="he-IL" sz="1800" dirty="0">
                <a:cs typeface="David" panose="020E0502060401010101" pitchFamily="34" charset="-79"/>
              </a:rPr>
              <a:t>צירפנו את הלוגים שלנו בתיקיית </a:t>
            </a:r>
            <a:r>
              <a:rPr lang="en-US" sz="1800" dirty="0"/>
              <a:t>logs</a:t>
            </a:r>
            <a:r>
              <a:rPr lang="he-IL" sz="1800" dirty="0">
                <a:cs typeface="David" panose="020E0502060401010101" pitchFamily="34" charset="-79"/>
              </a:rPr>
              <a:t> שם שינינו את השמות לפי שיטות גיבוב והגנה.</a:t>
            </a:r>
            <a:endParaRPr lang="en-US" sz="1800" dirty="0"/>
          </a:p>
          <a:p>
            <a:pPr lvl="1" algn="just" rtl="1"/>
            <a:endParaRPr lang="en-US" sz="1800" dirty="0"/>
          </a:p>
        </p:txBody>
      </p:sp>
      <p:pic>
        <p:nvPicPr>
          <p:cNvPr id="6" name="Picture 5">
            <a:extLst>
              <a:ext uri="{FF2B5EF4-FFF2-40B4-BE49-F238E27FC236}">
                <a16:creationId xmlns:a16="http://schemas.microsoft.com/office/drawing/2014/main" id="{B1C98FE1-D56D-21A7-AAEF-84DAF377C1D5}"/>
              </a:ext>
            </a:extLst>
          </p:cNvPr>
          <p:cNvPicPr>
            <a:picLocks noChangeAspect="1"/>
          </p:cNvPicPr>
          <p:nvPr/>
        </p:nvPicPr>
        <p:blipFill>
          <a:blip r:embed="rId3"/>
          <a:stretch>
            <a:fillRect/>
          </a:stretch>
        </p:blipFill>
        <p:spPr>
          <a:xfrm>
            <a:off x="3943049" y="4392833"/>
            <a:ext cx="4305901" cy="866896"/>
          </a:xfrm>
          <a:prstGeom prst="rect">
            <a:avLst/>
          </a:prstGeom>
        </p:spPr>
      </p:pic>
    </p:spTree>
    <p:extLst>
      <p:ext uri="{BB962C8B-B14F-4D97-AF65-F5344CB8AC3E}">
        <p14:creationId xmlns:p14="http://schemas.microsoft.com/office/powerpoint/2010/main" val="4265257073"/>
      </p:ext>
    </p:extLst>
  </p:cSld>
  <p:clrMapOvr>
    <a:masterClrMapping/>
  </p:clrMapOvr>
</p:sld>
</file>

<file path=ppt/theme/theme1.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830</TotalTime>
  <Words>1303</Words>
  <Application>Microsoft Office PowerPoint</Application>
  <PresentationFormat>Widescreen</PresentationFormat>
  <Paragraphs>92</Paragraphs>
  <Slides>11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Arial</vt:lpstr>
      <vt:lpstr>Calibri</vt:lpstr>
      <vt:lpstr>Cambria Math</vt:lpstr>
      <vt:lpstr>David</vt:lpstr>
      <vt:lpstr>Symbol</vt:lpstr>
      <vt:lpstr>Times New Roman</vt:lpstr>
      <vt:lpstr>Office 2013 - 2022 Theme</vt:lpstr>
      <vt:lpstr>ממ"ן 16 - קורס מבוא לאבטחת המרחב המקוון 20940</vt:lpstr>
      <vt:lpstr>תוכן עניינים</vt:lpstr>
      <vt:lpstr>מטרות הפרויקט</vt:lpstr>
      <vt:lpstr>PowerPoint Presentation</vt:lpstr>
      <vt:lpstr>ממצאים מרכזיים</vt:lpstr>
      <vt:lpstr>מגבלות הניסוי</vt:lpstr>
      <vt:lpstr>סביבת העבודה</vt:lpstr>
      <vt:lpstr>סביבת העבודה</vt:lpstr>
      <vt:lpstr>שחזור ניסוי</vt:lpstr>
      <vt:lpstr>שחזור ניסוי</vt:lpstr>
      <vt:lpstr>שיטות גיבוב</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Dolly Shehade</dc:creator>
  <cp:lastModifiedBy>Dolly Shehade</cp:lastModifiedBy>
  <cp:revision>29</cp:revision>
  <dcterms:created xsi:type="dcterms:W3CDTF">2026-01-06T11:20:05Z</dcterms:created>
  <dcterms:modified xsi:type="dcterms:W3CDTF">2026-01-07T19:15:23Z</dcterms:modified>
</cp:coreProperties>
</file>