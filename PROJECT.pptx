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26" y="1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207467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515756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77B37A-14F8-494E-9063-6E053A950412}"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292643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77B37A-14F8-494E-9063-6E053A950412}"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322638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77B37A-14F8-494E-9063-6E053A950412}"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1957825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77B37A-14F8-494E-9063-6E053A950412}"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1332263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77B37A-14F8-494E-9063-6E053A950412}"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1034318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77B37A-14F8-494E-9063-6E053A950412}"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2119132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77B37A-14F8-494E-9063-6E053A950412}"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785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105698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3740854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77B37A-14F8-494E-9063-6E053A950412}" type="datetimeFigureOut">
              <a:rPr lang="en-US" smtClean="0"/>
              <a:t>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041048-533A-4B1F-BBAF-BC5ACCB03556}" type="slidenum">
              <a:rPr lang="en-US" smtClean="0"/>
              <a:t>‹#›</a:t>
            </a:fld>
            <a:endParaRPr lang="en-US"/>
          </a:p>
        </p:txBody>
      </p:sp>
    </p:spTree>
    <p:extLst>
      <p:ext uri="{BB962C8B-B14F-4D97-AF65-F5344CB8AC3E}">
        <p14:creationId xmlns:p14="http://schemas.microsoft.com/office/powerpoint/2010/main" val="42845719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DollyShe/Cyber-Security-Projec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B38F2-9CC5-851F-B72A-22209C56935F}"/>
              </a:ext>
            </a:extLst>
          </p:cNvPr>
          <p:cNvSpPr>
            <a:spLocks noGrp="1"/>
          </p:cNvSpPr>
          <p:nvPr>
            <p:ph type="ctrTitle"/>
          </p:nvPr>
        </p:nvSpPr>
        <p:spPr/>
        <p:txBody>
          <a:bodyPr/>
          <a:lstStyle/>
          <a:p>
            <a:r>
              <a:rPr lang="he-IL" dirty="0"/>
              <a:t>מטלה תכנותית</a:t>
            </a:r>
            <a:endParaRPr lang="en-US" dirty="0"/>
          </a:p>
        </p:txBody>
      </p:sp>
      <p:sp>
        <p:nvSpPr>
          <p:cNvPr id="3" name="Subtitle 2">
            <a:extLst>
              <a:ext uri="{FF2B5EF4-FFF2-40B4-BE49-F238E27FC236}">
                <a16:creationId xmlns:a16="http://schemas.microsoft.com/office/drawing/2014/main" id="{35C6257C-089D-F954-F91D-44D072008540}"/>
              </a:ext>
            </a:extLst>
          </p:cNvPr>
          <p:cNvSpPr>
            <a:spLocks noGrp="1"/>
          </p:cNvSpPr>
          <p:nvPr>
            <p:ph type="subTitle" idx="1"/>
          </p:nvPr>
        </p:nvSpPr>
        <p:spPr/>
        <p:txBody>
          <a:bodyPr/>
          <a:lstStyle/>
          <a:p>
            <a:r>
              <a:rPr lang="he-IL" dirty="0"/>
              <a:t>דולי </a:t>
            </a:r>
            <a:r>
              <a:rPr lang="he-IL" dirty="0" err="1"/>
              <a:t>שחאדה</a:t>
            </a:r>
            <a:r>
              <a:rPr lang="he-IL" dirty="0"/>
              <a:t> ונעם טוני </a:t>
            </a:r>
            <a:r>
              <a:rPr lang="he-IL" dirty="0" err="1"/>
              <a:t>טואף</a:t>
            </a:r>
            <a:endParaRPr lang="en-US" dirty="0"/>
          </a:p>
        </p:txBody>
      </p:sp>
    </p:spTree>
    <p:extLst>
      <p:ext uri="{BB962C8B-B14F-4D97-AF65-F5344CB8AC3E}">
        <p14:creationId xmlns:p14="http://schemas.microsoft.com/office/powerpoint/2010/main" val="1498791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2CAD-BE25-5232-AB51-8B66FC6B20CF}"/>
              </a:ext>
            </a:extLst>
          </p:cNvPr>
          <p:cNvSpPr>
            <a:spLocks noGrp="1"/>
          </p:cNvSpPr>
          <p:nvPr>
            <p:ph type="title"/>
          </p:nvPr>
        </p:nvSpPr>
        <p:spPr/>
        <p:txBody>
          <a:bodyPr/>
          <a:lstStyle/>
          <a:p>
            <a:pPr algn="ctr"/>
            <a:r>
              <a:rPr lang="he-IL" dirty="0"/>
              <a:t>מבוא</a:t>
            </a:r>
            <a:endParaRPr lang="en-US" dirty="0"/>
          </a:p>
        </p:txBody>
      </p:sp>
      <p:sp>
        <p:nvSpPr>
          <p:cNvPr id="3" name="Content Placeholder 2">
            <a:extLst>
              <a:ext uri="{FF2B5EF4-FFF2-40B4-BE49-F238E27FC236}">
                <a16:creationId xmlns:a16="http://schemas.microsoft.com/office/drawing/2014/main" id="{806F6E08-48C5-17E9-8143-C0215FE80180}"/>
              </a:ext>
            </a:extLst>
          </p:cNvPr>
          <p:cNvSpPr>
            <a:spLocks noGrp="1"/>
          </p:cNvSpPr>
          <p:nvPr>
            <p:ph idx="1"/>
          </p:nvPr>
        </p:nvSpPr>
        <p:spPr>
          <a:xfrm>
            <a:off x="1424354" y="1790455"/>
            <a:ext cx="9343292" cy="4351338"/>
          </a:xfrm>
        </p:spPr>
        <p:txBody>
          <a:bodyPr/>
          <a:lstStyle/>
          <a:p>
            <a:pPr algn="r" rtl="1"/>
            <a:r>
              <a:rPr lang="he-IL" dirty="0"/>
              <a:t>פה נציג את סביבת העבודה שלנו, איך יכולים לשנות קונפיגורציות, וגם איך לשחזר ניסויים.</a:t>
            </a:r>
          </a:p>
          <a:p>
            <a:pPr algn="r" rtl="1"/>
            <a:endParaRPr lang="he-IL" dirty="0"/>
          </a:p>
          <a:p>
            <a:pPr algn="r" rtl="1"/>
            <a:r>
              <a:rPr lang="he-IL" dirty="0"/>
              <a:t>בנוסף זהו הלינק לפרויקט שלנו </a:t>
            </a:r>
            <a:r>
              <a:rPr lang="he-IL" dirty="0" err="1"/>
              <a:t>בגיט</a:t>
            </a:r>
            <a:r>
              <a:rPr lang="he-IL" dirty="0"/>
              <a:t>:</a:t>
            </a:r>
          </a:p>
          <a:p>
            <a:pPr marL="0" indent="0" algn="r" rtl="1">
              <a:buNone/>
            </a:pPr>
            <a:r>
              <a:rPr lang="en-US" dirty="0">
                <a:hlinkClick r:id="rId2"/>
              </a:rPr>
              <a:t>https://github.com/DollyShe/Cyber-Security-Project</a:t>
            </a:r>
            <a:endParaRPr lang="en-US" dirty="0"/>
          </a:p>
        </p:txBody>
      </p:sp>
    </p:spTree>
    <p:extLst>
      <p:ext uri="{BB962C8B-B14F-4D97-AF65-F5344CB8AC3E}">
        <p14:creationId xmlns:p14="http://schemas.microsoft.com/office/powerpoint/2010/main" val="183284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5161-8524-213D-D3BB-0CB13ABA3C7E}"/>
              </a:ext>
            </a:extLst>
          </p:cNvPr>
          <p:cNvSpPr>
            <a:spLocks noGrp="1"/>
          </p:cNvSpPr>
          <p:nvPr>
            <p:ph type="title"/>
          </p:nvPr>
        </p:nvSpPr>
        <p:spPr/>
        <p:txBody>
          <a:bodyPr/>
          <a:lstStyle/>
          <a:p>
            <a:pPr algn="ctr"/>
            <a:r>
              <a:rPr lang="he-IL" dirty="0"/>
              <a:t>סביבת העבודה</a:t>
            </a:r>
            <a:endParaRPr lang="en-US" dirty="0"/>
          </a:p>
        </p:txBody>
      </p:sp>
      <p:pic>
        <p:nvPicPr>
          <p:cNvPr id="5" name="Content Placeholder 4">
            <a:extLst>
              <a:ext uri="{FF2B5EF4-FFF2-40B4-BE49-F238E27FC236}">
                <a16:creationId xmlns:a16="http://schemas.microsoft.com/office/drawing/2014/main" id="{E41A24AB-6DBF-2A4F-3906-9EC97E530BDA}"/>
              </a:ext>
            </a:extLst>
          </p:cNvPr>
          <p:cNvPicPr>
            <a:picLocks noGrp="1" noChangeAspect="1"/>
          </p:cNvPicPr>
          <p:nvPr>
            <p:ph idx="1"/>
          </p:nvPr>
        </p:nvPicPr>
        <p:blipFill>
          <a:blip r:embed="rId2"/>
          <a:stretch>
            <a:fillRect/>
          </a:stretch>
        </p:blipFill>
        <p:spPr>
          <a:xfrm>
            <a:off x="2202712" y="1535479"/>
            <a:ext cx="7786576" cy="4837814"/>
          </a:xfrm>
          <a:prstGeom prst="rect">
            <a:avLst/>
          </a:prstGeom>
        </p:spPr>
      </p:pic>
    </p:spTree>
    <p:extLst>
      <p:ext uri="{BB962C8B-B14F-4D97-AF65-F5344CB8AC3E}">
        <p14:creationId xmlns:p14="http://schemas.microsoft.com/office/powerpoint/2010/main" val="3653354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5B0D-B057-C9C2-FD6F-1421B565969B}"/>
              </a:ext>
            </a:extLst>
          </p:cNvPr>
          <p:cNvSpPr>
            <a:spLocks noGrp="1"/>
          </p:cNvSpPr>
          <p:nvPr>
            <p:ph type="title"/>
          </p:nvPr>
        </p:nvSpPr>
        <p:spPr/>
        <p:txBody>
          <a:bodyPr/>
          <a:lstStyle/>
          <a:p>
            <a:pPr algn="ctr" rtl="1"/>
            <a:r>
              <a:rPr lang="he-IL" dirty="0"/>
              <a:t>סביבת העבודה</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93F174-A699-373C-60F7-B45F9C60AD5A}"/>
                  </a:ext>
                </a:extLst>
              </p:cNvPr>
              <p:cNvSpPr>
                <a:spLocks noGrp="1"/>
              </p:cNvSpPr>
              <p:nvPr>
                <p:ph idx="1"/>
              </p:nvPr>
            </p:nvSpPr>
            <p:spPr/>
            <p:txBody>
              <a:bodyPr/>
              <a:lstStyle/>
              <a:p>
                <a:pPr algn="r" rtl="1"/>
                <a:r>
                  <a:rPr lang="he-IL" dirty="0"/>
                  <a:t>יש </a:t>
                </a:r>
                <a14:m>
                  <m:oMath xmlns:m="http://schemas.openxmlformats.org/officeDocument/2006/math">
                    <m:r>
                      <a:rPr lang="he-IL" i="1" dirty="0" smtClean="0">
                        <a:latin typeface="Cambria Math" panose="02040503050406030204" pitchFamily="18" charset="0"/>
                      </a:rPr>
                      <m:t>4</m:t>
                    </m:r>
                  </m:oMath>
                </a14:m>
                <a:r>
                  <a:rPr lang="he-IL" dirty="0"/>
                  <a:t> קבצי קוד עיקריים:</a:t>
                </a:r>
              </a:p>
              <a:p>
                <a:pPr lvl="1" algn="r" rtl="1"/>
                <a:r>
                  <a:rPr lang="en-US" dirty="0"/>
                  <a:t>server.py</a:t>
                </a:r>
                <a:r>
                  <a:rPr lang="he-IL" dirty="0"/>
                  <a:t> כאן מימשנו את השרת הפשוט שלנו</a:t>
                </a:r>
                <a:endParaRPr lang="en-US" dirty="0"/>
              </a:p>
              <a:p>
                <a:pPr lvl="1" algn="r" rtl="1"/>
                <a:r>
                  <a:rPr lang="en-US" dirty="0"/>
                  <a:t>user.py</a:t>
                </a:r>
                <a:r>
                  <a:rPr lang="he-IL" dirty="0"/>
                  <a:t> כאן מימשנו את הלקוח הפשוט שלנו</a:t>
                </a:r>
                <a:endParaRPr lang="en-US" dirty="0"/>
              </a:p>
              <a:p>
                <a:pPr lvl="1" algn="r" rtl="1"/>
                <a:r>
                  <a:rPr lang="en-US" dirty="0"/>
                  <a:t>attempts.py</a:t>
                </a:r>
                <a:r>
                  <a:rPr lang="he-IL" dirty="0"/>
                  <a:t> כאן מימשנו סימולציות התקפות שונות</a:t>
                </a:r>
              </a:p>
              <a:p>
                <a:pPr lvl="1" algn="r" rtl="1"/>
                <a:r>
                  <a:rPr lang="en-US" dirty="0"/>
                  <a:t>MetricCollector.py</a:t>
                </a:r>
                <a:r>
                  <a:rPr lang="he-IL" dirty="0"/>
                  <a:t> כאן מימשנו מחלקה </a:t>
                </a:r>
                <a:r>
                  <a:rPr lang="he-IL" dirty="0" err="1"/>
                  <a:t>שתזור</a:t>
                </a:r>
                <a:r>
                  <a:rPr lang="he-IL" dirty="0"/>
                  <a:t> לנו ביצירת הלוגים</a:t>
                </a:r>
                <a:endParaRPr lang="en-US" dirty="0"/>
              </a:p>
            </p:txBody>
          </p:sp>
        </mc:Choice>
        <mc:Fallback xmlns="">
          <p:sp>
            <p:nvSpPr>
              <p:cNvPr id="3" name="Content Placeholder 2">
                <a:extLst>
                  <a:ext uri="{FF2B5EF4-FFF2-40B4-BE49-F238E27FC236}">
                    <a16:creationId xmlns:a16="http://schemas.microsoft.com/office/drawing/2014/main" id="{CD93F174-A699-373C-60F7-B45F9C60AD5A}"/>
                  </a:ext>
                </a:extLst>
              </p:cNvPr>
              <p:cNvSpPr>
                <a:spLocks noGrp="1" noRot="1" noChangeAspect="1" noMove="1" noResize="1" noEditPoints="1" noAdjustHandles="1" noChangeArrowheads="1" noChangeShapeType="1" noTextEdit="1"/>
              </p:cNvSpPr>
              <p:nvPr>
                <p:ph idx="1"/>
              </p:nvPr>
            </p:nvSpPr>
            <p:spPr>
              <a:blipFill>
                <a:blip r:embed="rId2"/>
                <a:stretch>
                  <a:fillRect t="-2381" r="-1043"/>
                </a:stretch>
              </a:blipFill>
            </p:spPr>
            <p:txBody>
              <a:bodyPr/>
              <a:lstStyle/>
              <a:p>
                <a:r>
                  <a:rPr lang="en-US">
                    <a:noFill/>
                  </a:rPr>
                  <a:t> </a:t>
                </a:r>
              </a:p>
            </p:txBody>
          </p:sp>
        </mc:Fallback>
      </mc:AlternateContent>
    </p:spTree>
    <p:extLst>
      <p:ext uri="{BB962C8B-B14F-4D97-AF65-F5344CB8AC3E}">
        <p14:creationId xmlns:p14="http://schemas.microsoft.com/office/powerpoint/2010/main" val="3351138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1ED21-93E4-512E-E2F6-E4CDC3B3E204}"/>
              </a:ext>
            </a:extLst>
          </p:cNvPr>
          <p:cNvSpPr>
            <a:spLocks noGrp="1"/>
          </p:cNvSpPr>
          <p:nvPr>
            <p:ph type="title"/>
          </p:nvPr>
        </p:nvSpPr>
        <p:spPr/>
        <p:txBody>
          <a:bodyPr/>
          <a:lstStyle/>
          <a:p>
            <a:pPr algn="ctr" rtl="1"/>
            <a:r>
              <a:rPr lang="he-IL" dirty="0"/>
              <a:t>קובץ ה-</a:t>
            </a:r>
            <a:r>
              <a:rPr lang="en-US" dirty="0"/>
              <a:t>config.py </a:t>
            </a:r>
          </a:p>
        </p:txBody>
      </p:sp>
      <p:sp>
        <p:nvSpPr>
          <p:cNvPr id="3" name="Content Placeholder 2">
            <a:extLst>
              <a:ext uri="{FF2B5EF4-FFF2-40B4-BE49-F238E27FC236}">
                <a16:creationId xmlns:a16="http://schemas.microsoft.com/office/drawing/2014/main" id="{D6BFDFEE-C171-15C2-209A-B66C6ADAE54B}"/>
              </a:ext>
            </a:extLst>
          </p:cNvPr>
          <p:cNvSpPr>
            <a:spLocks noGrp="1"/>
          </p:cNvSpPr>
          <p:nvPr>
            <p:ph idx="1"/>
          </p:nvPr>
        </p:nvSpPr>
        <p:spPr/>
        <p:txBody>
          <a:bodyPr/>
          <a:lstStyle/>
          <a:p>
            <a:pPr algn="r" rtl="1"/>
            <a:r>
              <a:rPr lang="he-IL" dirty="0"/>
              <a:t>בקובץ זה אפשר לשנות קונפיגורציות שונות:</a:t>
            </a:r>
            <a:endParaRPr lang="en-US" dirty="0"/>
          </a:p>
        </p:txBody>
      </p:sp>
      <p:pic>
        <p:nvPicPr>
          <p:cNvPr id="5" name="Picture 4">
            <a:extLst>
              <a:ext uri="{FF2B5EF4-FFF2-40B4-BE49-F238E27FC236}">
                <a16:creationId xmlns:a16="http://schemas.microsoft.com/office/drawing/2014/main" id="{CACB2A84-F3DE-E508-7086-221C0416F622}"/>
              </a:ext>
            </a:extLst>
          </p:cNvPr>
          <p:cNvPicPr>
            <a:picLocks noChangeAspect="1"/>
          </p:cNvPicPr>
          <p:nvPr/>
        </p:nvPicPr>
        <p:blipFill>
          <a:blip r:embed="rId2"/>
          <a:stretch>
            <a:fillRect/>
          </a:stretch>
        </p:blipFill>
        <p:spPr>
          <a:xfrm>
            <a:off x="3981155" y="2548975"/>
            <a:ext cx="4229690" cy="3943900"/>
          </a:xfrm>
          <a:prstGeom prst="rect">
            <a:avLst/>
          </a:prstGeom>
        </p:spPr>
      </p:pic>
    </p:spTree>
    <p:extLst>
      <p:ext uri="{BB962C8B-B14F-4D97-AF65-F5344CB8AC3E}">
        <p14:creationId xmlns:p14="http://schemas.microsoft.com/office/powerpoint/2010/main" val="681598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5258-B022-8BE3-E37B-B952D81F166A}"/>
              </a:ext>
            </a:extLst>
          </p:cNvPr>
          <p:cNvSpPr>
            <a:spLocks noGrp="1"/>
          </p:cNvSpPr>
          <p:nvPr>
            <p:ph type="title"/>
          </p:nvPr>
        </p:nvSpPr>
        <p:spPr/>
        <p:txBody>
          <a:bodyPr/>
          <a:lstStyle/>
          <a:p>
            <a:pPr algn="ctr" rtl="1"/>
            <a:r>
              <a:rPr lang="he-IL" dirty="0"/>
              <a:t>שחזור ניסוי כלשהו</a:t>
            </a:r>
            <a:endParaRPr lang="en-US" dirty="0"/>
          </a:p>
        </p:txBody>
      </p:sp>
      <p:sp>
        <p:nvSpPr>
          <p:cNvPr id="3" name="Content Placeholder 2">
            <a:extLst>
              <a:ext uri="{FF2B5EF4-FFF2-40B4-BE49-F238E27FC236}">
                <a16:creationId xmlns:a16="http://schemas.microsoft.com/office/drawing/2014/main" id="{C901CAEA-8DB4-9800-D53E-AFA6F06CB1F6}"/>
              </a:ext>
            </a:extLst>
          </p:cNvPr>
          <p:cNvSpPr>
            <a:spLocks noGrp="1"/>
          </p:cNvSpPr>
          <p:nvPr>
            <p:ph idx="1"/>
          </p:nvPr>
        </p:nvSpPr>
        <p:spPr/>
        <p:txBody>
          <a:bodyPr/>
          <a:lstStyle/>
          <a:p>
            <a:pPr algn="r" rtl="1"/>
            <a:r>
              <a:rPr lang="he-IL" dirty="0"/>
              <a:t>נצטרך קודם להוריד את כל הספריות הנדרשות, וכדי להריץ נריץ הפקודות הבאות מהקובץ </a:t>
            </a:r>
            <a:r>
              <a:rPr lang="en-US" dirty="0"/>
              <a:t>attempts.py</a:t>
            </a:r>
            <a:r>
              <a:rPr lang="he-IL" dirty="0"/>
              <a:t>:</a:t>
            </a:r>
          </a:p>
          <a:p>
            <a:pPr marL="514350" indent="-514350">
              <a:buFont typeface="+mj-lt"/>
              <a:buAutoNum type="arabicPeriod"/>
            </a:pPr>
            <a:r>
              <a:rPr lang="en-US" dirty="0"/>
              <a:t>a = Attempt(captcha=True)</a:t>
            </a:r>
          </a:p>
          <a:p>
            <a:pPr marL="514350" indent="-514350">
              <a:buFont typeface="+mj-lt"/>
              <a:buAutoNum type="arabicPeriod"/>
            </a:pPr>
            <a:r>
              <a:rPr lang="en-US" dirty="0" err="1"/>
              <a:t>a.password_spraying</a:t>
            </a:r>
            <a:r>
              <a:rPr lang="en-US" dirty="0"/>
              <a:t>() # for example</a:t>
            </a:r>
          </a:p>
          <a:p>
            <a:pPr marL="514350" indent="-514350">
              <a:buFont typeface="+mj-lt"/>
              <a:buAutoNum type="arabicPeriod"/>
            </a:pPr>
            <a:r>
              <a:rPr lang="en-US" dirty="0" err="1"/>
              <a:t>a.add_stats</a:t>
            </a:r>
            <a:r>
              <a:rPr lang="en-US" dirty="0"/>
              <a:t>()</a:t>
            </a:r>
          </a:p>
          <a:p>
            <a:pPr marL="0" indent="0" algn="r" rtl="1">
              <a:buNone/>
            </a:pPr>
            <a:r>
              <a:rPr lang="he-IL" dirty="0"/>
              <a:t>זה למשל יריץ תקיפת </a:t>
            </a:r>
            <a:r>
              <a:rPr lang="en-US" dirty="0"/>
              <a:t>PS</a:t>
            </a:r>
            <a:r>
              <a:rPr lang="he-IL" dirty="0"/>
              <a:t> עם </a:t>
            </a:r>
            <a:r>
              <a:rPr lang="en-US" dirty="0"/>
              <a:t>CAPTCHA</a:t>
            </a:r>
            <a:r>
              <a:rPr lang="he-IL" dirty="0"/>
              <a:t>.</a:t>
            </a:r>
          </a:p>
          <a:p>
            <a:pPr marL="0" indent="0" algn="r" rtl="1">
              <a:buNone/>
            </a:pPr>
            <a:endParaRPr lang="en-US" dirty="0"/>
          </a:p>
        </p:txBody>
      </p:sp>
    </p:spTree>
    <p:extLst>
      <p:ext uri="{BB962C8B-B14F-4D97-AF65-F5344CB8AC3E}">
        <p14:creationId xmlns:p14="http://schemas.microsoft.com/office/powerpoint/2010/main" val="192704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B8F38-A1BE-2BA7-F6DF-48B83E3830D8}"/>
              </a:ext>
            </a:extLst>
          </p:cNvPr>
          <p:cNvSpPr>
            <a:spLocks noGrp="1"/>
          </p:cNvSpPr>
          <p:nvPr>
            <p:ph type="title"/>
          </p:nvPr>
        </p:nvSpPr>
        <p:spPr/>
        <p:txBody>
          <a:bodyPr/>
          <a:lstStyle/>
          <a:p>
            <a:pPr algn="ctr"/>
            <a:r>
              <a:rPr lang="he-IL" dirty="0"/>
              <a:t>שחזור ניסוי כלשהו</a:t>
            </a:r>
            <a:endParaRPr lang="en-US" dirty="0"/>
          </a:p>
        </p:txBody>
      </p:sp>
      <p:sp>
        <p:nvSpPr>
          <p:cNvPr id="3" name="Content Placeholder 2">
            <a:extLst>
              <a:ext uri="{FF2B5EF4-FFF2-40B4-BE49-F238E27FC236}">
                <a16:creationId xmlns:a16="http://schemas.microsoft.com/office/drawing/2014/main" id="{8403092C-42F9-EA7B-955A-0223AE36C208}"/>
              </a:ext>
            </a:extLst>
          </p:cNvPr>
          <p:cNvSpPr>
            <a:spLocks noGrp="1"/>
          </p:cNvSpPr>
          <p:nvPr>
            <p:ph idx="1"/>
          </p:nvPr>
        </p:nvSpPr>
        <p:spPr/>
        <p:txBody>
          <a:bodyPr/>
          <a:lstStyle/>
          <a:p>
            <a:pPr algn="just" rtl="1"/>
            <a:r>
              <a:rPr lang="he-IL" dirty="0"/>
              <a:t>אם במקום נרצה להריץ </a:t>
            </a:r>
            <a:r>
              <a:rPr lang="en-US" dirty="0"/>
              <a:t>BF </a:t>
            </a:r>
            <a:r>
              <a:rPr lang="he-IL" dirty="0"/>
              <a:t>אז צריכים לבחור משתמש כלשהו מרשימת המשתמשים </a:t>
            </a:r>
            <a:r>
              <a:rPr lang="en-US" dirty="0" err="1"/>
              <a:t>users.json</a:t>
            </a:r>
            <a:r>
              <a:rPr lang="he-IL" dirty="0"/>
              <a:t> ואז להריץ:</a:t>
            </a:r>
          </a:p>
          <a:p>
            <a:pPr marL="514350" indent="-514350" algn="just">
              <a:buFont typeface="+mj-lt"/>
              <a:buAutoNum type="arabicPeriod"/>
            </a:pPr>
            <a:r>
              <a:rPr lang="en-US" dirty="0"/>
              <a:t>a = Attempt(captcha=True)</a:t>
            </a:r>
          </a:p>
          <a:p>
            <a:pPr marL="514350" indent="-514350" algn="just">
              <a:buFont typeface="+mj-lt"/>
              <a:buAutoNum type="arabicPeriod"/>
            </a:pPr>
            <a:r>
              <a:rPr lang="en-US" dirty="0" err="1"/>
              <a:t>a.brute_force</a:t>
            </a:r>
            <a:r>
              <a:rPr lang="en-US" dirty="0"/>
              <a:t>(“</a:t>
            </a:r>
            <a:r>
              <a:rPr lang="en-US" dirty="0" err="1"/>
              <a:t>taylor</a:t>
            </a:r>
            <a:r>
              <a:rPr lang="en-US" dirty="0"/>
              <a:t>”) # for example</a:t>
            </a:r>
          </a:p>
          <a:p>
            <a:pPr marL="514350" indent="-514350" algn="just">
              <a:buFont typeface="+mj-lt"/>
              <a:buAutoNum type="arabicPeriod"/>
            </a:pPr>
            <a:r>
              <a:rPr lang="en-US" dirty="0" err="1"/>
              <a:t>a.add_stats</a:t>
            </a:r>
            <a:r>
              <a:rPr lang="en-US" dirty="0"/>
              <a:t>()</a:t>
            </a:r>
          </a:p>
          <a:p>
            <a:pPr marL="514350" indent="-514350" algn="just">
              <a:buFont typeface="+mj-lt"/>
              <a:buAutoNum type="arabicPeriod"/>
            </a:pPr>
            <a:endParaRPr lang="en-US" dirty="0"/>
          </a:p>
        </p:txBody>
      </p:sp>
    </p:spTree>
    <p:extLst>
      <p:ext uri="{BB962C8B-B14F-4D97-AF65-F5344CB8AC3E}">
        <p14:creationId xmlns:p14="http://schemas.microsoft.com/office/powerpoint/2010/main" val="903668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5E3C1-2383-283A-8FD8-CE085CA16A24}"/>
              </a:ext>
            </a:extLst>
          </p:cNvPr>
          <p:cNvSpPr>
            <a:spLocks noGrp="1"/>
          </p:cNvSpPr>
          <p:nvPr>
            <p:ph type="title"/>
          </p:nvPr>
        </p:nvSpPr>
        <p:spPr/>
        <p:txBody>
          <a:bodyPr/>
          <a:lstStyle/>
          <a:p>
            <a:pPr algn="ctr"/>
            <a:r>
              <a:rPr lang="he-IL" dirty="0"/>
              <a:t>שחזור ניסוי כלשהו</a:t>
            </a:r>
            <a:endParaRPr lang="en-US" dirty="0"/>
          </a:p>
        </p:txBody>
      </p:sp>
      <p:sp>
        <p:nvSpPr>
          <p:cNvPr id="3" name="Content Placeholder 2">
            <a:extLst>
              <a:ext uri="{FF2B5EF4-FFF2-40B4-BE49-F238E27FC236}">
                <a16:creationId xmlns:a16="http://schemas.microsoft.com/office/drawing/2014/main" id="{94A72D9E-81B4-53C3-50B7-3560FDCBEB68}"/>
              </a:ext>
            </a:extLst>
          </p:cNvPr>
          <p:cNvSpPr>
            <a:spLocks noGrp="1"/>
          </p:cNvSpPr>
          <p:nvPr>
            <p:ph idx="1"/>
          </p:nvPr>
        </p:nvSpPr>
        <p:spPr/>
        <p:txBody>
          <a:bodyPr/>
          <a:lstStyle/>
          <a:p>
            <a:pPr algn="just" rtl="1"/>
            <a:r>
              <a:rPr lang="he-IL" dirty="0"/>
              <a:t>אם נרצה להוסיף שיטת גיבוב אז נוסיף אחד מהבאים:</a:t>
            </a:r>
          </a:p>
          <a:p>
            <a:pPr algn="just"/>
            <a:r>
              <a:rPr lang="en-US" dirty="0"/>
              <a:t>argon2_hash=True</a:t>
            </a:r>
          </a:p>
          <a:p>
            <a:pPr algn="just"/>
            <a:r>
              <a:rPr lang="en-US" dirty="0" err="1"/>
              <a:t>bcrypt_hash</a:t>
            </a:r>
            <a:r>
              <a:rPr lang="he-IL" dirty="0"/>
              <a:t>=</a:t>
            </a:r>
            <a:r>
              <a:rPr lang="en-US" dirty="0"/>
              <a:t>True</a:t>
            </a:r>
          </a:p>
          <a:p>
            <a:pPr algn="just"/>
            <a:r>
              <a:rPr lang="en-US" dirty="0"/>
              <a:t>sha256_salt=True </a:t>
            </a:r>
          </a:p>
          <a:p>
            <a:pPr algn="just" rtl="1"/>
            <a:r>
              <a:rPr lang="he-IL" dirty="0"/>
              <a:t>אם בנוסף רוצים </a:t>
            </a:r>
            <a:r>
              <a:rPr lang="en-US" dirty="0"/>
              <a:t>PEPPER</a:t>
            </a:r>
            <a:r>
              <a:rPr lang="he-IL" dirty="0"/>
              <a:t> אז מוסיפים:</a:t>
            </a:r>
          </a:p>
          <a:p>
            <a:pPr algn="just"/>
            <a:r>
              <a:rPr lang="en-US" dirty="0"/>
              <a:t>pepper=True</a:t>
            </a:r>
          </a:p>
          <a:p>
            <a:pPr algn="just" rtl="1"/>
            <a:r>
              <a:rPr lang="he-IL" dirty="0"/>
              <a:t>פרמטרים אלה מוסיפים כאשר מאתחלים ניסוי.</a:t>
            </a:r>
            <a:endParaRPr lang="en-US" dirty="0"/>
          </a:p>
          <a:p>
            <a:pPr algn="just"/>
            <a:endParaRPr lang="en-US" dirty="0"/>
          </a:p>
        </p:txBody>
      </p:sp>
    </p:spTree>
    <p:extLst>
      <p:ext uri="{BB962C8B-B14F-4D97-AF65-F5344CB8AC3E}">
        <p14:creationId xmlns:p14="http://schemas.microsoft.com/office/powerpoint/2010/main" val="1940947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A783-A817-3810-794A-DC1068CA9B46}"/>
              </a:ext>
            </a:extLst>
          </p:cNvPr>
          <p:cNvSpPr>
            <a:spLocks noGrp="1"/>
          </p:cNvSpPr>
          <p:nvPr>
            <p:ph type="title"/>
          </p:nvPr>
        </p:nvSpPr>
        <p:spPr/>
        <p:txBody>
          <a:bodyPr/>
          <a:lstStyle/>
          <a:p>
            <a:pPr algn="ctr"/>
            <a:r>
              <a:rPr lang="he-IL" dirty="0"/>
              <a:t>למשל:</a:t>
            </a:r>
            <a:endParaRPr lang="en-US" dirty="0"/>
          </a:p>
        </p:txBody>
      </p:sp>
      <p:sp>
        <p:nvSpPr>
          <p:cNvPr id="3" name="Content Placeholder 2">
            <a:extLst>
              <a:ext uri="{FF2B5EF4-FFF2-40B4-BE49-F238E27FC236}">
                <a16:creationId xmlns:a16="http://schemas.microsoft.com/office/drawing/2014/main" id="{A18E7863-EB45-0BDE-C79A-3CAD13FAD876}"/>
              </a:ext>
            </a:extLst>
          </p:cNvPr>
          <p:cNvSpPr>
            <a:spLocks noGrp="1"/>
          </p:cNvSpPr>
          <p:nvPr>
            <p:ph idx="1"/>
          </p:nvPr>
        </p:nvSpPr>
        <p:spPr>
          <a:xfrm>
            <a:off x="457932" y="1690688"/>
            <a:ext cx="11276136" cy="4468690"/>
          </a:xfrm>
        </p:spPr>
        <p:txBody>
          <a:bodyPr>
            <a:normAutofit/>
          </a:bodyPr>
          <a:lstStyle/>
          <a:p>
            <a:pPr algn="just" rtl="1"/>
            <a:r>
              <a:rPr lang="he-IL" dirty="0"/>
              <a:t>אם רוצים </a:t>
            </a:r>
            <a:r>
              <a:rPr lang="en-US" dirty="0"/>
              <a:t>argon</a:t>
            </a:r>
            <a:r>
              <a:rPr lang="he-IL" dirty="0"/>
              <a:t> עם </a:t>
            </a:r>
            <a:r>
              <a:rPr lang="en-US" dirty="0"/>
              <a:t>PEPPER</a:t>
            </a:r>
            <a:r>
              <a:rPr lang="he-IL" dirty="0"/>
              <a:t> עם </a:t>
            </a:r>
            <a:r>
              <a:rPr lang="en-US" dirty="0"/>
              <a:t>lockout</a:t>
            </a:r>
            <a:r>
              <a:rPr lang="he-IL" dirty="0"/>
              <a:t> נריץ:</a:t>
            </a:r>
          </a:p>
          <a:p>
            <a:pPr marL="514350" indent="-514350" algn="just">
              <a:buFont typeface="+mj-lt"/>
              <a:buAutoNum type="arabicPeriod"/>
            </a:pPr>
            <a:r>
              <a:rPr lang="en-US" dirty="0"/>
              <a:t>a = Attempt(argon2_hash=True, pepper</a:t>
            </a:r>
            <a:r>
              <a:rPr lang="he-IL" dirty="0"/>
              <a:t>=</a:t>
            </a:r>
            <a:r>
              <a:rPr lang="en-US" dirty="0"/>
              <a:t>True, lockout=True)</a:t>
            </a:r>
          </a:p>
          <a:p>
            <a:pPr marL="514350" indent="-514350" algn="just">
              <a:buFont typeface="+mj-lt"/>
              <a:buAutoNum type="arabicPeriod"/>
            </a:pPr>
            <a:r>
              <a:rPr lang="en-US" dirty="0" err="1"/>
              <a:t>a.brute_force</a:t>
            </a:r>
            <a:r>
              <a:rPr lang="en-US" dirty="0"/>
              <a:t>("</a:t>
            </a:r>
            <a:r>
              <a:rPr lang="en-US" dirty="0" err="1"/>
              <a:t>taylor</a:t>
            </a:r>
            <a:r>
              <a:rPr lang="en-US" dirty="0"/>
              <a:t>") # </a:t>
            </a:r>
            <a:r>
              <a:rPr lang="en-US" dirty="0" err="1"/>
              <a:t>a.brute_force</a:t>
            </a:r>
            <a:r>
              <a:rPr lang="en-US" dirty="0"/>
              <a:t>("max") # Medium password</a:t>
            </a:r>
            <a:endParaRPr lang="he-IL" dirty="0"/>
          </a:p>
          <a:p>
            <a:pPr marL="514350" indent="-514350" algn="just">
              <a:buFont typeface="+mj-lt"/>
              <a:buAutoNum type="arabicPeriod"/>
            </a:pPr>
            <a:r>
              <a:rPr lang="en-US" dirty="0" err="1"/>
              <a:t>a.add_stats</a:t>
            </a:r>
            <a:r>
              <a:rPr lang="en-US" dirty="0"/>
              <a:t>()</a:t>
            </a:r>
          </a:p>
          <a:p>
            <a:pPr algn="just" rtl="1"/>
            <a:r>
              <a:rPr lang="he-IL" dirty="0"/>
              <a:t>אם בנוסף רוצים </a:t>
            </a:r>
            <a:r>
              <a:rPr lang="en-US" dirty="0"/>
              <a:t>TOTP</a:t>
            </a:r>
            <a:r>
              <a:rPr lang="he-IL" dirty="0"/>
              <a:t>:</a:t>
            </a:r>
          </a:p>
          <a:p>
            <a:pPr marL="514350" indent="-514350" algn="just">
              <a:buFont typeface="+mj-lt"/>
              <a:buAutoNum type="arabicPeriod"/>
            </a:pPr>
            <a:r>
              <a:rPr lang="en-US" dirty="0"/>
              <a:t>a = Attempt(argon2_hash=True, pepper</a:t>
            </a:r>
            <a:r>
              <a:rPr lang="he-IL" dirty="0"/>
              <a:t>=</a:t>
            </a:r>
            <a:r>
              <a:rPr lang="en-US" dirty="0"/>
              <a:t>True, lockout=True, TOTP=True)</a:t>
            </a:r>
          </a:p>
          <a:p>
            <a:pPr marL="514350" indent="-514350" algn="just">
              <a:buFont typeface="+mj-lt"/>
              <a:buAutoNum type="arabicPeriod"/>
            </a:pPr>
            <a:r>
              <a:rPr lang="en-US" dirty="0" err="1"/>
              <a:t>a.brute_force</a:t>
            </a:r>
            <a:r>
              <a:rPr lang="en-US" dirty="0"/>
              <a:t>("</a:t>
            </a:r>
            <a:r>
              <a:rPr lang="en-US" dirty="0" err="1"/>
              <a:t>taylor</a:t>
            </a:r>
            <a:r>
              <a:rPr lang="en-US" dirty="0"/>
              <a:t>") # </a:t>
            </a:r>
            <a:r>
              <a:rPr lang="en-US" dirty="0" err="1"/>
              <a:t>a.brute_force</a:t>
            </a:r>
            <a:r>
              <a:rPr lang="en-US" dirty="0"/>
              <a:t>("max") # Medium password</a:t>
            </a:r>
            <a:endParaRPr lang="he-IL" dirty="0"/>
          </a:p>
          <a:p>
            <a:pPr marL="514350" indent="-514350" algn="just">
              <a:buFont typeface="+mj-lt"/>
              <a:buAutoNum type="arabicPeriod"/>
            </a:pPr>
            <a:r>
              <a:rPr lang="en-US" dirty="0" err="1"/>
              <a:t>a.add_stats</a:t>
            </a:r>
            <a:r>
              <a:rPr lang="en-US" dirty="0"/>
              <a:t>()</a:t>
            </a:r>
          </a:p>
          <a:p>
            <a:pPr algn="just" rtl="1"/>
            <a:endParaRPr lang="en-US" dirty="0"/>
          </a:p>
        </p:txBody>
      </p:sp>
    </p:spTree>
    <p:extLst>
      <p:ext uri="{BB962C8B-B14F-4D97-AF65-F5344CB8AC3E}">
        <p14:creationId xmlns:p14="http://schemas.microsoft.com/office/powerpoint/2010/main" val="101863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DF299-6D3C-96E4-8D86-E79D7BC99169}"/>
              </a:ext>
            </a:extLst>
          </p:cNvPr>
          <p:cNvSpPr>
            <a:spLocks noGrp="1"/>
          </p:cNvSpPr>
          <p:nvPr>
            <p:ph type="title"/>
          </p:nvPr>
        </p:nvSpPr>
        <p:spPr/>
        <p:txBody>
          <a:bodyPr/>
          <a:lstStyle/>
          <a:p>
            <a:pPr algn="ctr" rtl="1"/>
            <a:r>
              <a:rPr lang="he-IL" dirty="0"/>
              <a:t>שיטות גיבוב</a:t>
            </a:r>
            <a:endParaRPr lang="en-US" dirty="0"/>
          </a:p>
        </p:txBody>
      </p:sp>
      <p:sp>
        <p:nvSpPr>
          <p:cNvPr id="3" name="Content Placeholder 2">
            <a:extLst>
              <a:ext uri="{FF2B5EF4-FFF2-40B4-BE49-F238E27FC236}">
                <a16:creationId xmlns:a16="http://schemas.microsoft.com/office/drawing/2014/main" id="{E6BEB1AC-FC80-526D-A0BC-F6E924504BAA}"/>
              </a:ext>
            </a:extLst>
          </p:cNvPr>
          <p:cNvSpPr>
            <a:spLocks noGrp="1"/>
          </p:cNvSpPr>
          <p:nvPr>
            <p:ph idx="1"/>
          </p:nvPr>
        </p:nvSpPr>
        <p:spPr/>
        <p:txBody>
          <a:bodyPr/>
          <a:lstStyle/>
          <a:p>
            <a:pPr algn="r" rtl="1"/>
            <a:r>
              <a:rPr lang="he-IL" dirty="0"/>
              <a:t>בנוסף, אם למשל בחרנו בשיטת הגיבוב - </a:t>
            </a:r>
            <a:r>
              <a:rPr lang="en-US" dirty="0"/>
              <a:t>sha256_salt</a:t>
            </a:r>
            <a:r>
              <a:rPr lang="he-IL" dirty="0"/>
              <a:t> אז </a:t>
            </a:r>
            <a:r>
              <a:rPr lang="he-IL" dirty="0" err="1"/>
              <a:t>יווצר</a:t>
            </a:r>
            <a:r>
              <a:rPr lang="he-IL" dirty="0"/>
              <a:t> קובץ של </a:t>
            </a:r>
            <a:r>
              <a:rPr lang="en-US" dirty="0" err="1"/>
              <a:t>hashed_passwords.json</a:t>
            </a:r>
            <a:r>
              <a:rPr lang="he-IL" dirty="0"/>
              <a:t>. בו ניתן לראות את המידע </a:t>
            </a:r>
            <a:r>
              <a:rPr lang="he-IL" dirty="0" err="1"/>
              <a:t>השמוש</a:t>
            </a:r>
            <a:r>
              <a:rPr lang="he-IL" dirty="0"/>
              <a:t> לכל שיטה וגם הסיסמאות אחרי גיבוב:</a:t>
            </a:r>
          </a:p>
          <a:p>
            <a:pPr algn="r" rtl="1"/>
            <a:endParaRPr lang="he-IL" dirty="0"/>
          </a:p>
          <a:p>
            <a:pPr algn="r" rtl="1"/>
            <a:endParaRPr lang="en-US" dirty="0"/>
          </a:p>
        </p:txBody>
      </p:sp>
      <p:pic>
        <p:nvPicPr>
          <p:cNvPr id="7" name="Picture 6">
            <a:extLst>
              <a:ext uri="{FF2B5EF4-FFF2-40B4-BE49-F238E27FC236}">
                <a16:creationId xmlns:a16="http://schemas.microsoft.com/office/drawing/2014/main" id="{D0E92A37-C041-63A3-A122-A88F547B271B}"/>
              </a:ext>
            </a:extLst>
          </p:cNvPr>
          <p:cNvPicPr>
            <a:picLocks noChangeAspect="1"/>
          </p:cNvPicPr>
          <p:nvPr/>
        </p:nvPicPr>
        <p:blipFill>
          <a:blip r:embed="rId2"/>
          <a:stretch>
            <a:fillRect/>
          </a:stretch>
        </p:blipFill>
        <p:spPr>
          <a:xfrm>
            <a:off x="1416353" y="3429000"/>
            <a:ext cx="9359294" cy="1243031"/>
          </a:xfrm>
          <a:prstGeom prst="rect">
            <a:avLst/>
          </a:prstGeom>
        </p:spPr>
      </p:pic>
    </p:spTree>
    <p:extLst>
      <p:ext uri="{BB962C8B-B14F-4D97-AF65-F5344CB8AC3E}">
        <p14:creationId xmlns:p14="http://schemas.microsoft.com/office/powerpoint/2010/main" val="4265257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B5A4-AE89-B968-19F6-797D60FFB9D0}"/>
              </a:ext>
            </a:extLst>
          </p:cNvPr>
          <p:cNvSpPr>
            <a:spLocks noGrp="1"/>
          </p:cNvSpPr>
          <p:nvPr>
            <p:ph type="title"/>
          </p:nvPr>
        </p:nvSpPr>
        <p:spPr/>
        <p:txBody>
          <a:bodyPr/>
          <a:lstStyle/>
          <a:p>
            <a:pPr algn="ctr"/>
            <a:r>
              <a:rPr lang="he-IL" dirty="0"/>
              <a:t>יצירת ובדיקת לוגים</a:t>
            </a:r>
            <a:endParaRPr lang="en-US" dirty="0"/>
          </a:p>
        </p:txBody>
      </p:sp>
      <p:sp>
        <p:nvSpPr>
          <p:cNvPr id="3" name="Content Placeholder 2">
            <a:extLst>
              <a:ext uri="{FF2B5EF4-FFF2-40B4-BE49-F238E27FC236}">
                <a16:creationId xmlns:a16="http://schemas.microsoft.com/office/drawing/2014/main" id="{855931F6-0ACE-A340-7D00-37A069996405}"/>
              </a:ext>
            </a:extLst>
          </p:cNvPr>
          <p:cNvSpPr>
            <a:spLocks noGrp="1"/>
          </p:cNvSpPr>
          <p:nvPr>
            <p:ph idx="1"/>
          </p:nvPr>
        </p:nvSpPr>
        <p:spPr/>
        <p:txBody>
          <a:bodyPr/>
          <a:lstStyle/>
          <a:p>
            <a:pPr algn="just" rtl="1"/>
            <a:r>
              <a:rPr lang="he-IL" dirty="0"/>
              <a:t>בסוף הריצה נקבל שני לוגים</a:t>
            </a:r>
            <a:r>
              <a:rPr lang="en-US" dirty="0"/>
              <a:t>:</a:t>
            </a:r>
          </a:p>
          <a:p>
            <a:pPr lvl="1" algn="just" rtl="1"/>
            <a:r>
              <a:rPr lang="en-US" dirty="0"/>
              <a:t>attempts.log</a:t>
            </a:r>
            <a:r>
              <a:rPr lang="he-IL" dirty="0"/>
              <a:t> - לוג פשוט שגם מודפס תוך כדי ריצה לערוץ ה- </a:t>
            </a:r>
            <a:r>
              <a:rPr lang="en-US" dirty="0"/>
              <a:t>OUTPUT</a:t>
            </a:r>
            <a:r>
              <a:rPr lang="he-IL" dirty="0"/>
              <a:t> ובסוף גם מראה סיכום של הניסוי:</a:t>
            </a:r>
          </a:p>
          <a:p>
            <a:pPr marL="457200" lvl="1" indent="0" algn="just" rtl="1">
              <a:buNone/>
            </a:pPr>
            <a:br>
              <a:rPr lang="en-US" dirty="0"/>
            </a:br>
            <a:endParaRPr lang="he-IL" dirty="0"/>
          </a:p>
          <a:p>
            <a:pPr marL="457200" lvl="1" indent="0" algn="just" rtl="1">
              <a:buNone/>
            </a:pPr>
            <a:endParaRPr lang="en-US" dirty="0"/>
          </a:p>
          <a:p>
            <a:pPr lvl="1" algn="just" rtl="1"/>
            <a:r>
              <a:rPr lang="en-US" dirty="0"/>
              <a:t>attempts.csv</a:t>
            </a:r>
            <a:r>
              <a:rPr lang="he-IL" dirty="0"/>
              <a:t> - לוג יותר אינפורמטיבי המכיל מידע סטטיסטי, כאן אפשר לראות באופן מסודר הזמן, המשתמש, מצב הגיבוב (אם יש), ושיטות ההגנה בהם משתמשים. בנוסף ניתן לראות את התוצאה של כל ניסיון התחברות, וכמה זמן לקח במילישניות.</a:t>
            </a:r>
            <a:endParaRPr lang="en-US" dirty="0"/>
          </a:p>
        </p:txBody>
      </p:sp>
      <p:pic>
        <p:nvPicPr>
          <p:cNvPr id="6" name="Picture 5">
            <a:extLst>
              <a:ext uri="{FF2B5EF4-FFF2-40B4-BE49-F238E27FC236}">
                <a16:creationId xmlns:a16="http://schemas.microsoft.com/office/drawing/2014/main" id="{1B914C4F-9F3A-A575-897D-B1D9659BB8EF}"/>
              </a:ext>
            </a:extLst>
          </p:cNvPr>
          <p:cNvPicPr>
            <a:picLocks noChangeAspect="1"/>
          </p:cNvPicPr>
          <p:nvPr/>
        </p:nvPicPr>
        <p:blipFill>
          <a:blip r:embed="rId2"/>
          <a:stretch>
            <a:fillRect/>
          </a:stretch>
        </p:blipFill>
        <p:spPr>
          <a:xfrm>
            <a:off x="3943049" y="2995552"/>
            <a:ext cx="4305901" cy="866896"/>
          </a:xfrm>
          <a:prstGeom prst="rect">
            <a:avLst/>
          </a:prstGeom>
        </p:spPr>
      </p:pic>
    </p:spTree>
    <p:extLst>
      <p:ext uri="{BB962C8B-B14F-4D97-AF65-F5344CB8AC3E}">
        <p14:creationId xmlns:p14="http://schemas.microsoft.com/office/powerpoint/2010/main" val="3851985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409B9-C2C8-85DD-F3B1-FD16E7FCA18C}"/>
              </a:ext>
            </a:extLst>
          </p:cNvPr>
          <p:cNvSpPr>
            <a:spLocks noGrp="1"/>
          </p:cNvSpPr>
          <p:nvPr>
            <p:ph type="title"/>
          </p:nvPr>
        </p:nvSpPr>
        <p:spPr/>
        <p:txBody>
          <a:bodyPr/>
          <a:lstStyle/>
          <a:p>
            <a:pPr algn="ctr" rtl="1"/>
            <a:r>
              <a:rPr lang="he-IL" dirty="0"/>
              <a:t>הלוגים שלנו</a:t>
            </a:r>
            <a:endParaRPr lang="en-US" dirty="0"/>
          </a:p>
        </p:txBody>
      </p:sp>
      <p:sp>
        <p:nvSpPr>
          <p:cNvPr id="3" name="Content Placeholder 2">
            <a:extLst>
              <a:ext uri="{FF2B5EF4-FFF2-40B4-BE49-F238E27FC236}">
                <a16:creationId xmlns:a16="http://schemas.microsoft.com/office/drawing/2014/main" id="{DA3E09A9-FCBE-AA6F-9837-DE0ED3BF549C}"/>
              </a:ext>
            </a:extLst>
          </p:cNvPr>
          <p:cNvSpPr>
            <a:spLocks noGrp="1"/>
          </p:cNvSpPr>
          <p:nvPr>
            <p:ph idx="1"/>
          </p:nvPr>
        </p:nvSpPr>
        <p:spPr/>
        <p:txBody>
          <a:bodyPr/>
          <a:lstStyle/>
          <a:p>
            <a:pPr algn="r" rtl="1"/>
            <a:r>
              <a:rPr lang="he-IL" dirty="0"/>
              <a:t>צירפנו את הלוגים שלנו בתיקיית </a:t>
            </a:r>
            <a:r>
              <a:rPr lang="en-US" dirty="0"/>
              <a:t>logs</a:t>
            </a:r>
            <a:r>
              <a:rPr lang="he-IL" dirty="0"/>
              <a:t> שם שינינו את השמות לפי שיטות גיבוב והגנה.</a:t>
            </a:r>
            <a:endParaRPr lang="en-US" dirty="0"/>
          </a:p>
        </p:txBody>
      </p:sp>
    </p:spTree>
    <p:extLst>
      <p:ext uri="{BB962C8B-B14F-4D97-AF65-F5344CB8AC3E}">
        <p14:creationId xmlns:p14="http://schemas.microsoft.com/office/powerpoint/2010/main" val="66494313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TotalTime>
  <Words>480</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Cambria Math</vt:lpstr>
      <vt:lpstr>Office 2013 - 2022 Theme</vt:lpstr>
      <vt:lpstr>מטלה תכנותית</vt:lpstr>
      <vt:lpstr>מבוא</vt:lpstr>
      <vt:lpstr>סביבת העבודה</vt:lpstr>
      <vt:lpstr>סביבת העבודה</vt:lpstr>
      <vt:lpstr>קובץ ה-config.py </vt:lpstr>
      <vt:lpstr>שחזור ניסוי כלשהו</vt:lpstr>
      <vt:lpstr>שחזור ניסוי כלשהו</vt:lpstr>
      <vt:lpstr>שחזור ניסוי כלשהו</vt:lpstr>
      <vt:lpstr>למשל:</vt:lpstr>
      <vt:lpstr>שיטות גיבוב</vt:lpstr>
      <vt:lpstr>יצירת ובדיקת לוגים</vt:lpstr>
      <vt:lpstr>הלוגים שלנו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Dolly Shehade</dc:creator>
  <cp:lastModifiedBy>Dolly Shehade</cp:lastModifiedBy>
  <cp:revision>14</cp:revision>
  <dcterms:created xsi:type="dcterms:W3CDTF">2026-01-06T11:20:05Z</dcterms:created>
  <dcterms:modified xsi:type="dcterms:W3CDTF">2026-01-06T12:00:53Z</dcterms:modified>
</cp:coreProperties>
</file>